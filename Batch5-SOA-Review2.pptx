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4"/>
  </p:notesMasterIdLst>
  <p:sldIdLst>
    <p:sldId id="262" r:id="rId3"/>
    <p:sldId id="707" r:id="rId4"/>
    <p:sldId id="257" r:id="rId5"/>
    <p:sldId id="903" r:id="rId6"/>
    <p:sldId id="904" r:id="rId7"/>
    <p:sldId id="905" r:id="rId8"/>
    <p:sldId id="906" r:id="rId9"/>
    <p:sldId id="258" r:id="rId10"/>
    <p:sldId id="902" r:id="rId11"/>
    <p:sldId id="259"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E8F054-4B7B-46C7-9DD7-3D62FD6ACA3A}" v="11" dt="2026-09-24T07:34:18.3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922" autoAdjust="0"/>
  </p:normalViewPr>
  <p:slideViewPr>
    <p:cSldViewPr snapToGrid="0">
      <p:cViewPr varScale="1">
        <p:scale>
          <a:sx n="69" d="100"/>
          <a:sy n="69" d="100"/>
        </p:scale>
        <p:origin x="120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so_ Ramen_13" userId="a5e6755e72d09067" providerId="LiveId" clId="{EC92447A-6D7F-4DC0-8486-D9F5793E1CE7}"/>
    <pc:docChg chg="undo custSel addSld modSld sldOrd">
      <pc:chgData name="Miso_ Ramen_13" userId="a5e6755e72d09067" providerId="LiveId" clId="{EC92447A-6D7F-4DC0-8486-D9F5793E1CE7}" dt="2026-09-24T08:15:22.382" v="419" actId="20577"/>
      <pc:docMkLst>
        <pc:docMk/>
      </pc:docMkLst>
      <pc:sldChg chg="modSp mod">
        <pc:chgData name="Miso_ Ramen_13" userId="a5e6755e72d09067" providerId="LiveId" clId="{EC92447A-6D7F-4DC0-8486-D9F5793E1CE7}" dt="2026-09-24T08:15:22.382" v="419" actId="20577"/>
        <pc:sldMkLst>
          <pc:docMk/>
          <pc:sldMk cId="2247602601" sldId="262"/>
        </pc:sldMkLst>
        <pc:spChg chg="mod">
          <ac:chgData name="Miso_ Ramen_13" userId="a5e6755e72d09067" providerId="LiveId" clId="{EC92447A-6D7F-4DC0-8486-D9F5793E1CE7}" dt="2026-09-24T08:15:04.946" v="409" actId="20577"/>
          <ac:spMkLst>
            <pc:docMk/>
            <pc:sldMk cId="2247602601" sldId="262"/>
            <ac:spMk id="16" creationId="{500C0830-A1CA-96AE-68D2-18C57ABE4802}"/>
          </ac:spMkLst>
        </pc:spChg>
        <pc:spChg chg="mod">
          <ac:chgData name="Miso_ Ramen_13" userId="a5e6755e72d09067" providerId="LiveId" clId="{EC92447A-6D7F-4DC0-8486-D9F5793E1CE7}" dt="2026-09-24T08:14:50.171" v="392" actId="20577"/>
          <ac:spMkLst>
            <pc:docMk/>
            <pc:sldMk cId="2247602601" sldId="262"/>
            <ac:spMk id="17" creationId="{D25BC1A0-FDE4-1557-375E-6E0BD69BC77B}"/>
          </ac:spMkLst>
        </pc:spChg>
        <pc:spChg chg="mod">
          <ac:chgData name="Miso_ Ramen_13" userId="a5e6755e72d09067" providerId="LiveId" clId="{EC92447A-6D7F-4DC0-8486-D9F5793E1CE7}" dt="2026-09-24T08:15:22.382" v="419" actId="20577"/>
          <ac:spMkLst>
            <pc:docMk/>
            <pc:sldMk cId="2247602601" sldId="262"/>
            <ac:spMk id="35" creationId="{8FB49AA0-2464-6225-6B6C-063F9A6ECD20}"/>
          </ac:spMkLst>
        </pc:spChg>
        <pc:graphicFrameChg chg="modGraphic">
          <ac:chgData name="Miso_ Ramen_13" userId="a5e6755e72d09067" providerId="LiveId" clId="{EC92447A-6D7F-4DC0-8486-D9F5793E1CE7}" dt="2026-09-24T08:15:18.539" v="417" actId="20577"/>
          <ac:graphicFrameMkLst>
            <pc:docMk/>
            <pc:sldMk cId="2247602601" sldId="262"/>
            <ac:graphicFrameMk id="30" creationId="{9091FADF-77DB-CB1D-CD72-56C53CF76308}"/>
          </ac:graphicFrameMkLst>
        </pc:graphicFrameChg>
      </pc:sldChg>
      <pc:sldChg chg="modSp mod">
        <pc:chgData name="Miso_ Ramen_13" userId="a5e6755e72d09067" providerId="LiveId" clId="{EC92447A-6D7F-4DC0-8486-D9F5793E1CE7}" dt="2026-09-23T19:43:37.770" v="388" actId="20577"/>
        <pc:sldMkLst>
          <pc:docMk/>
          <pc:sldMk cId="2747969496" sldId="707"/>
        </pc:sldMkLst>
        <pc:spChg chg="mod">
          <ac:chgData name="Miso_ Ramen_13" userId="a5e6755e72d09067" providerId="LiveId" clId="{EC92447A-6D7F-4DC0-8486-D9F5793E1CE7}" dt="2026-09-23T19:43:09.779" v="377" actId="20577"/>
          <ac:spMkLst>
            <pc:docMk/>
            <pc:sldMk cId="2747969496" sldId="707"/>
            <ac:spMk id="14" creationId="{576F380C-3238-E430-3C22-3C23884CE532}"/>
          </ac:spMkLst>
        </pc:spChg>
        <pc:spChg chg="mod">
          <ac:chgData name="Miso_ Ramen_13" userId="a5e6755e72d09067" providerId="LiveId" clId="{EC92447A-6D7F-4DC0-8486-D9F5793E1CE7}" dt="2026-09-23T19:43:37.770" v="388" actId="20577"/>
          <ac:spMkLst>
            <pc:docMk/>
            <pc:sldMk cId="2747969496" sldId="707"/>
            <ac:spMk id="18" creationId="{EE7E17B2-5AF8-C463-91C3-5B87FC773369}"/>
          </ac:spMkLst>
        </pc:spChg>
      </pc:sldChg>
      <pc:sldChg chg="ord">
        <pc:chgData name="Miso_ Ramen_13" userId="a5e6755e72d09067" providerId="LiveId" clId="{EC92447A-6D7F-4DC0-8486-D9F5793E1CE7}" dt="2026-09-23T19:43:48.007" v="390"/>
        <pc:sldMkLst>
          <pc:docMk/>
          <pc:sldMk cId="3029277067" sldId="902"/>
        </pc:sldMkLst>
      </pc:sldChg>
      <pc:sldChg chg="addSp delSp modSp new mod">
        <pc:chgData name="Miso_ Ramen_13" userId="a5e6755e72d09067" providerId="LiveId" clId="{EC92447A-6D7F-4DC0-8486-D9F5793E1CE7}" dt="2026-09-23T19:30:35.622" v="291" actId="1076"/>
        <pc:sldMkLst>
          <pc:docMk/>
          <pc:sldMk cId="3415013598" sldId="904"/>
        </pc:sldMkLst>
        <pc:spChg chg="mod">
          <ac:chgData name="Miso_ Ramen_13" userId="a5e6755e72d09067" providerId="LiveId" clId="{EC92447A-6D7F-4DC0-8486-D9F5793E1CE7}" dt="2026-09-23T19:30:35.622" v="291" actId="1076"/>
          <ac:spMkLst>
            <pc:docMk/>
            <pc:sldMk cId="3415013598" sldId="904"/>
            <ac:spMk id="2" creationId="{1CE52C67-D178-59E6-687C-5B9B79BC9F17}"/>
          </ac:spMkLst>
        </pc:spChg>
        <pc:picChg chg="add del mod">
          <ac:chgData name="Miso_ Ramen_13" userId="a5e6755e72d09067" providerId="LiveId" clId="{EC92447A-6D7F-4DC0-8486-D9F5793E1CE7}" dt="2026-09-23T19:30:08.845" v="286" actId="478"/>
          <ac:picMkLst>
            <pc:docMk/>
            <pc:sldMk cId="3415013598" sldId="904"/>
            <ac:picMk id="4" creationId="{8FFF0A00-CABD-A1DA-52BF-7391B53F7849}"/>
          </ac:picMkLst>
        </pc:picChg>
        <pc:picChg chg="add mod">
          <ac:chgData name="Miso_ Ramen_13" userId="a5e6755e72d09067" providerId="LiveId" clId="{EC92447A-6D7F-4DC0-8486-D9F5793E1CE7}" dt="2026-09-23T19:30:23.088" v="290" actId="1076"/>
          <ac:picMkLst>
            <pc:docMk/>
            <pc:sldMk cId="3415013598" sldId="904"/>
            <ac:picMk id="6" creationId="{9C20E0B2-ABD9-9354-B19F-367AD5134E03}"/>
          </ac:picMkLst>
        </pc:picChg>
      </pc:sldChg>
      <pc:sldChg chg="addSp delSp modSp add mod">
        <pc:chgData name="Miso_ Ramen_13" userId="a5e6755e72d09067" providerId="LiveId" clId="{EC92447A-6D7F-4DC0-8486-D9F5793E1CE7}" dt="2026-09-23T19:41:16.111" v="354" actId="2711"/>
        <pc:sldMkLst>
          <pc:docMk/>
          <pc:sldMk cId="658445503" sldId="905"/>
        </pc:sldMkLst>
        <pc:spChg chg="mod">
          <ac:chgData name="Miso_ Ramen_13" userId="a5e6755e72d09067" providerId="LiveId" clId="{EC92447A-6D7F-4DC0-8486-D9F5793E1CE7}" dt="2026-09-23T19:38:36.234" v="348" actId="1076"/>
          <ac:spMkLst>
            <pc:docMk/>
            <pc:sldMk cId="658445503" sldId="905"/>
            <ac:spMk id="2" creationId="{154D400A-1F1F-D4B7-002C-5ED804190E86}"/>
          </ac:spMkLst>
        </pc:spChg>
        <pc:spChg chg="add mod">
          <ac:chgData name="Miso_ Ramen_13" userId="a5e6755e72d09067" providerId="LiveId" clId="{EC92447A-6D7F-4DC0-8486-D9F5793E1CE7}" dt="2026-09-23T19:41:16.111" v="354" actId="2711"/>
          <ac:spMkLst>
            <pc:docMk/>
            <pc:sldMk cId="658445503" sldId="905"/>
            <ac:spMk id="7" creationId="{8F25D6B7-D9EB-EC9D-F7EA-801CB8EF0BDE}"/>
          </ac:spMkLst>
        </pc:spChg>
        <pc:picChg chg="add mod">
          <ac:chgData name="Miso_ Ramen_13" userId="a5e6755e72d09067" providerId="LiveId" clId="{EC92447A-6D7F-4DC0-8486-D9F5793E1CE7}" dt="2026-09-23T19:38:27.287" v="347" actId="1076"/>
          <ac:picMkLst>
            <pc:docMk/>
            <pc:sldMk cId="658445503" sldId="905"/>
            <ac:picMk id="4" creationId="{4E6C2C67-D2C1-669D-748D-289E39BE8292}"/>
          </ac:picMkLst>
        </pc:picChg>
        <pc:picChg chg="del">
          <ac:chgData name="Miso_ Ramen_13" userId="a5e6755e72d09067" providerId="LiveId" clId="{EC92447A-6D7F-4DC0-8486-D9F5793E1CE7}" dt="2026-09-23T19:35:32.952" v="294" actId="478"/>
          <ac:picMkLst>
            <pc:docMk/>
            <pc:sldMk cId="658445503" sldId="905"/>
            <ac:picMk id="6" creationId="{8FEE5D5B-81BA-9174-54F1-F0ED3E5BC1AD}"/>
          </ac:picMkLst>
        </pc:picChg>
      </pc:sldChg>
      <pc:sldChg chg="addSp delSp modSp add mod">
        <pc:chgData name="Miso_ Ramen_13" userId="a5e6755e72d09067" providerId="LiveId" clId="{EC92447A-6D7F-4DC0-8486-D9F5793E1CE7}" dt="2026-09-23T19:42:09.812" v="358" actId="1076"/>
        <pc:sldMkLst>
          <pc:docMk/>
          <pc:sldMk cId="3719702070" sldId="906"/>
        </pc:sldMkLst>
        <pc:spChg chg="mod">
          <ac:chgData name="Miso_ Ramen_13" userId="a5e6755e72d09067" providerId="LiveId" clId="{EC92447A-6D7F-4DC0-8486-D9F5793E1CE7}" dt="2026-09-23T19:39:56.564" v="353" actId="1076"/>
          <ac:spMkLst>
            <pc:docMk/>
            <pc:sldMk cId="3719702070" sldId="906"/>
            <ac:spMk id="2" creationId="{01A054DE-6ACA-66DA-1AB0-D7C262A5266D}"/>
          </ac:spMkLst>
        </pc:spChg>
        <pc:spChg chg="add mod">
          <ac:chgData name="Miso_ Ramen_13" userId="a5e6755e72d09067" providerId="LiveId" clId="{EC92447A-6D7F-4DC0-8486-D9F5793E1CE7}" dt="2026-09-23T19:41:26.924" v="355" actId="2711"/>
          <ac:spMkLst>
            <pc:docMk/>
            <pc:sldMk cId="3719702070" sldId="906"/>
            <ac:spMk id="4" creationId="{E7186507-2E2D-BDA7-75AF-D4E71BE1D652}"/>
          </ac:spMkLst>
        </pc:spChg>
        <pc:picChg chg="del">
          <ac:chgData name="Miso_ Ramen_13" userId="a5e6755e72d09067" providerId="LiveId" clId="{EC92447A-6D7F-4DC0-8486-D9F5793E1CE7}" dt="2026-09-23T19:35:35.441" v="295" actId="478"/>
          <ac:picMkLst>
            <pc:docMk/>
            <pc:sldMk cId="3719702070" sldId="906"/>
            <ac:picMk id="6" creationId="{2E0302FB-7D35-EE80-2CC4-D69C4564A057}"/>
          </ac:picMkLst>
        </pc:picChg>
        <pc:picChg chg="add mod">
          <ac:chgData name="Miso_ Ramen_13" userId="a5e6755e72d09067" providerId="LiveId" clId="{EC92447A-6D7F-4DC0-8486-D9F5793E1CE7}" dt="2026-09-23T19:42:09.812" v="358" actId="1076"/>
          <ac:picMkLst>
            <pc:docMk/>
            <pc:sldMk cId="3719702070" sldId="906"/>
            <ac:picMk id="7" creationId="{018A87DC-9C70-4D4C-3184-102F7A80B39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err="1"/>
              <a:t>MediMind</a:t>
            </a:r>
            <a:r>
              <a:rPr lang="en-IN"/>
              <a:t> AI is an AI-powered hospital appointment and patient-care platform that uses Agentic AI and Service-Oriented Architecture to make healthcare appointment workflows more intelligent, personalized, and efficient.</a:t>
            </a:r>
            <a:br>
              <a:rPr lang="en-IN"/>
            </a:br>
            <a:r>
              <a:rPr lang="en-IN"/>
              <a:t>Normally, a hospital appointment system lets a patient search for a doctor and book an appointment. Our system goes a step further. It uses AI agents to understand the patient's requirements, help them identify the appropriate healthcare service, plan possible next steps, consider hospital availability, and maintain a useful summary of their healthcare information."</a:t>
            </a:r>
          </a:p>
          <a:p>
            <a:endParaRPr lang="en-IN"/>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Good morning ma’am. Our project is </a:t>
            </a:r>
            <a:r>
              <a:rPr lang="en-IN" b="1" err="1"/>
              <a:t>MediMind</a:t>
            </a:r>
            <a:r>
              <a:rPr lang="en-IN" b="1"/>
              <a:t> AI</a:t>
            </a:r>
            <a:r>
              <a:rPr lang="en-IN"/>
              <a:t>, an AI-powered hospital appointment and patient-care platform. Traditional hospital appointment systems mainly focus on basic functions such as searching for doctors and booking appointments. However, they provide limited intelligent assistance to patients and do not actively coordinate the different parts of the healthcare workflow.</a:t>
            </a:r>
          </a:p>
          <a:p>
            <a:r>
              <a:rPr lang="en-IN" err="1"/>
              <a:t>MediMind</a:t>
            </a:r>
            <a:r>
              <a:rPr lang="en-IN"/>
              <a:t> addresses this by integrating </a:t>
            </a:r>
            <a:r>
              <a:rPr lang="en-IN" b="1"/>
              <a:t>Agentic AI with Service-Oriented Architecture</a:t>
            </a:r>
            <a:r>
              <a:rPr lang="en-IN"/>
              <a:t>. The system uses AI to assist patients, support appointment coordination, and provide a more personalized healthcare experience.”</a:t>
            </a:r>
          </a:p>
          <a:p>
            <a:endParaRPr lang="en-IN"/>
          </a:p>
        </p:txBody>
      </p:sp>
      <p:sp>
        <p:nvSpPr>
          <p:cNvPr id="4" name="Slide Number Placeholder 3"/>
          <p:cNvSpPr>
            <a:spLocks noGrp="1"/>
          </p:cNvSpPr>
          <p:nvPr>
            <p:ph type="sldNum" sz="quarter" idx="5"/>
          </p:nvPr>
        </p:nvSpPr>
        <p:spPr/>
        <p:txBody>
          <a:bodyPr/>
          <a:lstStyle/>
          <a:p>
            <a:fld id="{9F19044B-B5AF-477C-950C-4ED51263438D}" type="slidenum">
              <a:rPr lang="en-US" smtClean="0"/>
              <a:t>2</a:t>
            </a:fld>
            <a:endParaRPr lang="en-US"/>
          </a:p>
        </p:txBody>
      </p:sp>
    </p:spTree>
    <p:extLst>
      <p:ext uri="{BB962C8B-B14F-4D97-AF65-F5344CB8AC3E}">
        <p14:creationId xmlns:p14="http://schemas.microsoft.com/office/powerpoint/2010/main" val="3669198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err="1"/>
              <a:t>MediMind</a:t>
            </a:r>
            <a:r>
              <a:rPr lang="en-IN"/>
              <a:t> AI is an AI-powered hospital appointment and patient-care platform that uses Agentic AI and Service-Oriented Architecture to make healthcare appointment workflows more intelligent, personalized, and efficient.</a:t>
            </a:r>
            <a:br>
              <a:rPr lang="en-IN"/>
            </a:br>
            <a:r>
              <a:rPr lang="en-IN"/>
              <a:t>Normally, a hospital appointment system lets a patient search for a doctor and book an appointment. Our system goes a step further. It uses AI agents to understand the patient's requirements, help them identify the appropriate healthcare service, plan possible next steps, consider hospital availability, and maintain a useful summary of their healthcare information."</a:t>
            </a:r>
          </a:p>
        </p:txBody>
      </p:sp>
      <p:sp>
        <p:nvSpPr>
          <p:cNvPr id="4" name="Slide Number Placeholder 3"/>
          <p:cNvSpPr>
            <a:spLocks noGrp="1"/>
          </p:cNvSpPr>
          <p:nvPr>
            <p:ph type="sldNum" sz="quarter" idx="5"/>
          </p:nvPr>
        </p:nvSpPr>
        <p:spPr/>
        <p:txBody>
          <a:bodyPr/>
          <a:lstStyle/>
          <a:p>
            <a:fld id="{9F19044B-B5AF-477C-950C-4ED51263438D}" type="slidenum">
              <a:rPr lang="en-US" smtClean="0"/>
              <a:t>3</a:t>
            </a:fld>
            <a:endParaRPr lang="en-US"/>
          </a:p>
        </p:txBody>
      </p:sp>
    </p:spTree>
    <p:extLst>
      <p:ext uri="{BB962C8B-B14F-4D97-AF65-F5344CB8AC3E}">
        <p14:creationId xmlns:p14="http://schemas.microsoft.com/office/powerpoint/2010/main" val="3026750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Our proposed system combines </a:t>
            </a:r>
            <a:r>
              <a:rPr lang="en-IN" b="1"/>
              <a:t>Artificial Intelligence, Agentic AI, and SOA-based microservices</a:t>
            </a:r>
            <a:r>
              <a:rPr lang="en-IN"/>
              <a:t>. Instead of having one large application, we divide the system into different services such as authentication, patient, doctor, appointment, AI, and notification services</a:t>
            </a:r>
          </a:p>
          <a:p>
            <a:r>
              <a:rPr lang="en-IN"/>
              <a:t>The important part of our project is Agentic AI. Unlike a normal chatbot that only gives a response, an AI agent can </a:t>
            </a:r>
            <a:r>
              <a:rPr lang="en-IN" err="1"/>
              <a:t>analyze</a:t>
            </a:r>
            <a:r>
              <a:rPr lang="en-IN"/>
              <a:t> information, make a context-based decision, and participate in the application workflow.”</a:t>
            </a:r>
          </a:p>
          <a:p>
            <a:r>
              <a:rPr lang="en-IN"/>
              <a:t>“In </a:t>
            </a:r>
            <a:r>
              <a:rPr lang="en-IN" err="1"/>
              <a:t>MediMind</a:t>
            </a:r>
            <a:r>
              <a:rPr lang="en-IN"/>
              <a:t>, the AI is used for patient assistance, healthcare journey prediction, resource-aware appointment coordination, and maintaining relevant patient information.”</a:t>
            </a:r>
          </a:p>
        </p:txBody>
      </p:sp>
      <p:sp>
        <p:nvSpPr>
          <p:cNvPr id="4" name="Slide Number Placeholder 3"/>
          <p:cNvSpPr>
            <a:spLocks noGrp="1"/>
          </p:cNvSpPr>
          <p:nvPr>
            <p:ph type="sldNum" sz="quarter" idx="5"/>
          </p:nvPr>
        </p:nvSpPr>
        <p:spPr/>
        <p:txBody>
          <a:bodyPr/>
          <a:lstStyle/>
          <a:p>
            <a:fld id="{9F19044B-B5AF-477C-950C-4ED51263438D}" type="slidenum">
              <a:rPr lang="en-US" smtClean="0"/>
              <a:t>4</a:t>
            </a:fld>
            <a:endParaRPr lang="en-US"/>
          </a:p>
        </p:txBody>
      </p:sp>
    </p:spTree>
    <p:extLst>
      <p:ext uri="{BB962C8B-B14F-4D97-AF65-F5344CB8AC3E}">
        <p14:creationId xmlns:p14="http://schemas.microsoft.com/office/powerpoint/2010/main" val="510685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“Our system follows a Service-Oriented Architecture.”</a:t>
            </a:r>
          </a:p>
          <a:p>
            <a:r>
              <a:rPr lang="en-IN" dirty="0"/>
              <a:t>“The user interacts with our React frontend. The request then goes to the Spring Cloud API Gateway, which acts as the entry point and routes the request to the required microservice.”</a:t>
            </a:r>
          </a:p>
          <a:p>
            <a:r>
              <a:rPr lang="en-IN" dirty="0"/>
              <a:t>“Our main microservices are Authentication, Patient, Doctor, Appointment, AI, and Notification.”</a:t>
            </a:r>
          </a:p>
          <a:p>
            <a:r>
              <a:rPr lang="en-IN" dirty="0"/>
              <a:t>“Eureka provides service discovery between the microservices, while REST APIs are used for communication.”</a:t>
            </a:r>
          </a:p>
          <a:p>
            <a:r>
              <a:rPr lang="en-IN" dirty="0"/>
              <a:t>“MySQL is used for storing the application data, and JWT is used for authentication and authorization.”</a:t>
            </a:r>
          </a:p>
          <a:p>
            <a:r>
              <a:rPr lang="en-IN" dirty="0"/>
              <a:t>“The important part of our architecture is the AI Service, which connects our AI-based features with the healthcare workflow.”</a:t>
            </a:r>
          </a:p>
          <a:p>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5</a:t>
            </a:fld>
            <a:endParaRPr lang="en-US"/>
          </a:p>
        </p:txBody>
      </p:sp>
    </p:spTree>
    <p:extLst>
      <p:ext uri="{BB962C8B-B14F-4D97-AF65-F5344CB8AC3E}">
        <p14:creationId xmlns:p14="http://schemas.microsoft.com/office/powerpoint/2010/main" val="6300289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Our methodology follows an iterative development approach along with Service-Oriented Architecture.”</a:t>
            </a:r>
          </a:p>
          <a:p>
            <a:r>
              <a:rPr lang="en-IN" dirty="0"/>
              <a:t>“First, we perform requirement analysis to identify the healthcare workflow problems and system requirements.”</a:t>
            </a:r>
          </a:p>
          <a:p>
            <a:r>
              <a:rPr lang="en-IN" dirty="0"/>
              <a:t>“Then we design the SOA architecture and define the microservices.”</a:t>
            </a:r>
          </a:p>
          <a:p>
            <a:r>
              <a:rPr lang="en-IN" dirty="0"/>
              <a:t>“Next, we develop the individual services and integrate the AI functionality.”</a:t>
            </a:r>
          </a:p>
          <a:p>
            <a:r>
              <a:rPr lang="en-IN" dirty="0"/>
              <a:t>“We then integrate MySQL for data management and JWT for security.”</a:t>
            </a:r>
          </a:p>
          <a:p>
            <a:r>
              <a:rPr lang="en-IN" dirty="0"/>
              <a:t>“After that, we connect the services using REST APIs and test the APIs using Postman.”</a:t>
            </a:r>
          </a:p>
          <a:p>
            <a:r>
              <a:rPr lang="en-IN" dirty="0"/>
              <a:t>“Finally, we evaluate the system and improve the implementation based on the results.”</a:t>
            </a:r>
          </a:p>
          <a:p>
            <a:br>
              <a:rPr lang="en-IN" dirty="0"/>
            </a:br>
            <a:endParaRPr lang="en-IN" dirty="0"/>
          </a:p>
          <a:p>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6</a:t>
            </a:fld>
            <a:endParaRPr lang="en-US"/>
          </a:p>
        </p:txBody>
      </p:sp>
    </p:spTree>
    <p:extLst>
      <p:ext uri="{BB962C8B-B14F-4D97-AF65-F5344CB8AC3E}">
        <p14:creationId xmlns:p14="http://schemas.microsoft.com/office/powerpoint/2010/main" val="3733847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“For the frontend, we use React to provide the user interface.”</a:t>
            </a:r>
          </a:p>
          <a:p>
            <a:r>
              <a:rPr lang="en-IN" dirty="0"/>
              <a:t>“For the backend, we use Java and Spring Boot to develop the microservices.”</a:t>
            </a:r>
          </a:p>
          <a:p>
            <a:r>
              <a:rPr lang="en-IN" dirty="0"/>
              <a:t>“Spring Cloud provides the microservice infrastructure. Spring Cloud Gateway handles request routing, while Eureka provides service discovery.”</a:t>
            </a:r>
          </a:p>
          <a:p>
            <a:r>
              <a:rPr lang="en-IN" dirty="0"/>
              <a:t>“REST APIs are used for communication between the components.”</a:t>
            </a:r>
          </a:p>
          <a:p>
            <a:r>
              <a:rPr lang="en-IN" dirty="0"/>
              <a:t>“MySQL is used for storing application data.”</a:t>
            </a:r>
          </a:p>
          <a:p>
            <a:r>
              <a:rPr lang="en-IN" dirty="0"/>
              <a:t>“For security, we use JWT-based authentication and role-based authorization.”</a:t>
            </a:r>
          </a:p>
          <a:p>
            <a:r>
              <a:rPr lang="en-IN" dirty="0"/>
              <a:t>“Postman is used for API testing, and Git and GitHub are used for version control and project management.”</a:t>
            </a:r>
          </a:p>
          <a:p>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7</a:t>
            </a:fld>
            <a:endParaRPr lang="en-US"/>
          </a:p>
        </p:txBody>
      </p:sp>
    </p:spTree>
    <p:extLst>
      <p:ext uri="{BB962C8B-B14F-4D97-AF65-F5344CB8AC3E}">
        <p14:creationId xmlns:p14="http://schemas.microsoft.com/office/powerpoint/2010/main" val="2272184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he patient interacts with our React frontend. The request first reaches the </a:t>
            </a:r>
            <a:r>
              <a:rPr lang="en-IN" b="1"/>
              <a:t>API Gateway</a:t>
            </a:r>
            <a:r>
              <a:rPr lang="en-IN"/>
              <a:t>, which acts as the entry point and routes the request to the required microservice.”</a:t>
            </a:r>
          </a:p>
          <a:p>
            <a:r>
              <a:rPr lang="en-IN"/>
              <a:t>“Our main services are Authentication, Patient, Doctor, Appointment, AI, and Notification.”</a:t>
            </a:r>
          </a:p>
          <a:p>
            <a:r>
              <a:rPr lang="en-IN"/>
              <a:t>“The services communicate using REST APIs, while </a:t>
            </a:r>
            <a:r>
              <a:rPr lang="en-IN" b="1"/>
              <a:t>Eureka</a:t>
            </a:r>
            <a:r>
              <a:rPr lang="en-IN"/>
              <a:t> provides service discovery between the microservices.”</a:t>
            </a:r>
          </a:p>
          <a:p>
            <a:endParaRPr lang="en-IN"/>
          </a:p>
        </p:txBody>
      </p:sp>
      <p:sp>
        <p:nvSpPr>
          <p:cNvPr id="4" name="Slide Number Placeholder 3"/>
          <p:cNvSpPr>
            <a:spLocks noGrp="1"/>
          </p:cNvSpPr>
          <p:nvPr>
            <p:ph type="sldNum" sz="quarter" idx="5"/>
          </p:nvPr>
        </p:nvSpPr>
        <p:spPr/>
        <p:txBody>
          <a:bodyPr/>
          <a:lstStyle/>
          <a:p>
            <a:fld id="{9F19044B-B5AF-477C-950C-4ED51263438D}" type="slidenum">
              <a:rPr lang="en-US" smtClean="0"/>
              <a:t>8</a:t>
            </a:fld>
            <a:endParaRPr lang="en-US"/>
          </a:p>
        </p:txBody>
      </p:sp>
    </p:spTree>
    <p:extLst>
      <p:ext uri="{BB962C8B-B14F-4D97-AF65-F5344CB8AC3E}">
        <p14:creationId xmlns:p14="http://schemas.microsoft.com/office/powerpoint/2010/main" val="1484481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E162C7A-CC9D-4035-A213-68F795EB7A2A}" type="slidenum">
              <a:rPr lang="en-IN" smtClean="0"/>
              <a:t>9</a:t>
            </a:fld>
            <a:endParaRPr lang="en-IN"/>
          </a:p>
        </p:txBody>
      </p:sp>
    </p:spTree>
    <p:extLst>
      <p:ext uri="{BB962C8B-B14F-4D97-AF65-F5344CB8AC3E}">
        <p14:creationId xmlns:p14="http://schemas.microsoft.com/office/powerpoint/2010/main" val="16477035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 first is the </a:t>
            </a:r>
            <a:r>
              <a:rPr lang="en-IN" b="1"/>
              <a:t>AI Health Journey Predictor</a:t>
            </a:r>
            <a:r>
              <a:rPr lang="en-IN"/>
              <a:t>, which generates a possible personalized sequence of healthcare activities.”</a:t>
            </a:r>
          </a:p>
          <a:p>
            <a:r>
              <a:rPr lang="en-IN"/>
              <a:t>“The second is the </a:t>
            </a:r>
            <a:r>
              <a:rPr lang="en-IN" b="1"/>
              <a:t>AI Hospital Load Balancer</a:t>
            </a:r>
            <a:r>
              <a:rPr lang="en-IN"/>
              <a:t>, which considers factors such as availability and workload to assist with appointment coordination.”</a:t>
            </a:r>
          </a:p>
          <a:p>
            <a:r>
              <a:rPr lang="en-IN"/>
              <a:t>“The third is the </a:t>
            </a:r>
            <a:r>
              <a:rPr lang="en-IN" b="1"/>
              <a:t>AI Digital Health Twin</a:t>
            </a:r>
            <a:r>
              <a:rPr lang="en-IN"/>
              <a:t>, which maintains an evolving AI-generated representation of relevant patient information.”</a:t>
            </a:r>
          </a:p>
          <a:p>
            <a:endParaRPr lang="en-IN"/>
          </a:p>
        </p:txBody>
      </p:sp>
      <p:sp>
        <p:nvSpPr>
          <p:cNvPr id="4" name="Slide Number Placeholder 3"/>
          <p:cNvSpPr>
            <a:spLocks noGrp="1"/>
          </p:cNvSpPr>
          <p:nvPr>
            <p:ph type="sldNum" sz="quarter" idx="5"/>
          </p:nvPr>
        </p:nvSpPr>
        <p:spPr/>
        <p:txBody>
          <a:bodyPr/>
          <a:lstStyle/>
          <a:p>
            <a:fld id="{9F19044B-B5AF-477C-950C-4ED51263438D}" type="slidenum">
              <a:rPr lang="en-US" smtClean="0"/>
              <a:t>10</a:t>
            </a:fld>
            <a:endParaRPr lang="en-US"/>
          </a:p>
        </p:txBody>
      </p:sp>
    </p:spTree>
    <p:extLst>
      <p:ext uri="{BB962C8B-B14F-4D97-AF65-F5344CB8AC3E}">
        <p14:creationId xmlns:p14="http://schemas.microsoft.com/office/powerpoint/2010/main" val="3957578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1F6EA6A-8FF5-49DF-BDDD-F7431B447D8F}" type="datetime3">
              <a:rPr lang="en-US" smtClean="0"/>
              <a:t>24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411EB6-9770-43AB-BBCE-044F1DB66B82}" type="datetime3">
              <a:rPr lang="en-US" smtClean="0"/>
              <a:t>24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24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FAC05-A025-4B8A-AB88-2AE8812F8A48}" type="datetime3">
              <a:rPr lang="en-US" smtClean="0"/>
              <a:t>24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7906D5-6813-455D-BAA0-28A983958C32}" type="datetime3">
              <a:rPr lang="en-US" smtClean="0"/>
              <a:t>24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4309C4-DF5F-4FAA-9214-A2117415D598}" type="datetime3">
              <a:rPr lang="en-US" smtClean="0"/>
              <a:t>24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24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24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24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0D9772-7494-4C65-A0D8-1FBD740B2E65}" type="datetime3">
              <a:rPr lang="en-US" smtClean="0"/>
              <a:t>24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B089DC-0019-49C7-8AD2-EF5D896393D8}" type="datetime3">
              <a:rPr lang="en-US" smtClean="0"/>
              <a:t>24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24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sv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1.png"/><Relationship Id="rId4" Type="http://schemas.openxmlformats.org/officeDocument/2006/relationships/hyperlink" Target="https://svgsilh.com/03a9f4/image/98809.html" TargetMode="Externa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800219"/>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a:p>
            <a:pPr algn="ctr"/>
            <a:r>
              <a:rPr lang="en-IN" sz="2000" b="1" dirty="0">
                <a:solidFill>
                  <a:srgbClr val="FF0000"/>
                </a:solidFill>
                <a:latin typeface="Times New Roman" panose="02020603050405020304" pitchFamily="18" charset="0"/>
                <a:cs typeface="Times New Roman" panose="02020603050405020304" pitchFamily="18" charset="0"/>
              </a:rPr>
              <a:t>Thursday, 24</a:t>
            </a:r>
            <a:r>
              <a:rPr lang="en-IN" sz="2000" b="1" baseline="30000" dirty="0">
                <a:solidFill>
                  <a:srgbClr val="FF0000"/>
                </a:solidFill>
                <a:latin typeface="Times New Roman" panose="02020603050405020304" pitchFamily="18" charset="0"/>
                <a:cs typeface="Times New Roman" panose="02020603050405020304" pitchFamily="18" charset="0"/>
              </a:rPr>
              <a:t>th</a:t>
            </a:r>
            <a:r>
              <a:rPr lang="en-IN" sz="2000" b="1" dirty="0">
                <a:solidFill>
                  <a:srgbClr val="FF0000"/>
                </a:solidFill>
                <a:latin typeface="Times New Roman" panose="02020603050405020304" pitchFamily="18" charset="0"/>
                <a:cs typeface="Times New Roman" panose="02020603050405020304" pitchFamily="18" charset="0"/>
              </a:rPr>
              <a:t> September 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014581307"/>
              </p:ext>
            </p:extLst>
          </p:nvPr>
        </p:nvGraphicFramePr>
        <p:xfrm>
          <a:off x="8193271" y="4898509"/>
          <a:ext cx="3702050" cy="170688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a:solidFill>
                            <a:schemeClr val="dk1"/>
                          </a:solidFill>
                          <a:latin typeface="Times New Roman" panose="02020603050405020304" pitchFamily="18" charset="0"/>
                          <a:ea typeface="Cambria"/>
                          <a:cs typeface="Times New Roman" panose="02020603050405020304" pitchFamily="18" charset="0"/>
                        </a:rPr>
                        <a:t>Name  G. Vidya </a:t>
                      </a:r>
                      <a:endParaRPr lang="en-IN" sz="1400" b="1" kern="120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a:solidFill>
                            <a:schemeClr val="dk1"/>
                          </a:solidFill>
                          <a:latin typeface="Times New Roman" panose="02020603050405020304" pitchFamily="18" charset="0"/>
                          <a:ea typeface="Cambria"/>
                          <a:cs typeface="Times New Roman" panose="02020603050405020304" pitchFamily="18" charset="0"/>
                        </a:rPr>
                        <a:t>Roll Number 2420030386</a:t>
                      </a:r>
                    </a:p>
                    <a:p>
                      <a:pPr marL="0" algn="l" defTabSz="914400" rtl="0" eaLnBrk="1" latinLnBrk="0" hangingPunct="1"/>
                      <a:r>
                        <a:rPr lang="en-IN" sz="1600" b="1" kern="1200">
                          <a:solidFill>
                            <a:schemeClr val="dk1"/>
                          </a:solidFill>
                          <a:latin typeface="Times New Roman" panose="02020603050405020304" pitchFamily="18" charset="0"/>
                          <a:ea typeface="Cambria"/>
                          <a:cs typeface="Times New Roman" panose="02020603050405020304" pitchFamily="18" charset="0"/>
                        </a:rPr>
                        <a:t>Name  M. Yasasvi</a:t>
                      </a:r>
                      <a:endParaRPr lang="en-IN" sz="1400" b="1" kern="120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a:solidFill>
                            <a:schemeClr val="dk1"/>
                          </a:solidFill>
                          <a:latin typeface="Times New Roman" panose="02020603050405020304" pitchFamily="18" charset="0"/>
                          <a:ea typeface="Cambria"/>
                          <a:cs typeface="Times New Roman" panose="02020603050405020304" pitchFamily="18" charset="0"/>
                        </a:rPr>
                        <a:t>Roll Number 2420030388</a:t>
                      </a:r>
                    </a:p>
                    <a:p>
                      <a:pPr marL="0" algn="l" defTabSz="914400" rtl="0" eaLnBrk="1" latinLnBrk="0" hangingPunct="1"/>
                      <a:r>
                        <a:rPr lang="en-IN" sz="1600" b="1" kern="1200">
                          <a:solidFill>
                            <a:schemeClr val="dk1"/>
                          </a:solidFill>
                          <a:latin typeface="Times New Roman" panose="02020603050405020304" pitchFamily="18" charset="0"/>
                          <a:ea typeface="Cambria"/>
                          <a:cs typeface="Times New Roman" panose="02020603050405020304" pitchFamily="18" charset="0"/>
                        </a:rPr>
                        <a:t>Name  S. Gagan Sai</a:t>
                      </a:r>
                      <a:endParaRPr lang="en-IN" sz="1400" b="1" kern="120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a:solidFill>
                            <a:schemeClr val="dk1"/>
                          </a:solidFill>
                          <a:latin typeface="Times New Roman" panose="02020603050405020304" pitchFamily="18" charset="0"/>
                          <a:ea typeface="Cambria"/>
                          <a:cs typeface="Times New Roman" panose="02020603050405020304" pitchFamily="18" charset="0"/>
                        </a:rPr>
                        <a:t>Roll Number 2420030352</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819344386"/>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Dr.Neelima</a:t>
                      </a: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 Gogineni</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Associate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a:t>
                      </a:r>
                      <a:r>
                        <a:rPr lang="en-US" sz="1400" dirty="0" err="1">
                          <a:solidFill>
                            <a:schemeClr val="dk1"/>
                          </a:solidFill>
                          <a:latin typeface="Times New Roman" panose="02020603050405020304" pitchFamily="18" charset="0"/>
                          <a:ea typeface="Cambria"/>
                          <a:cs typeface="Times New Roman" panose="02020603050405020304" pitchFamily="18" charset="0"/>
                          <a:sym typeface="Cambria"/>
                        </a:rPr>
                        <a:t>Bowrampet</a:t>
                      </a: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a:t>Date</a:t>
            </a:r>
            <a:endParaRPr lang="en-IN" b="1"/>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Review-2</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08953"/>
            <a:ext cx="10915650" cy="1045954"/>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892552"/>
          </a:xfrm>
          <a:prstGeom prst="rect">
            <a:avLst/>
          </a:prstGeom>
          <a:noFill/>
        </p:spPr>
        <p:txBody>
          <a:bodyPr wrap="square">
            <a:spAutoFit/>
          </a:bodyPr>
          <a:lstStyle/>
          <a:p>
            <a:pPr lvl="0" algn="ctr">
              <a:defRPr/>
            </a:pPr>
            <a:r>
              <a:rPr lang="en-IN" sz="2800" b="1">
                <a:solidFill>
                  <a:schemeClr val="bg1"/>
                </a:solidFill>
                <a:latin typeface="Times New Roman" panose="02020603050405020304" pitchFamily="18" charset="0"/>
                <a:cs typeface="Times New Roman" panose="02020603050405020304" pitchFamily="18" charset="0"/>
              </a:rPr>
              <a:t>Project Title</a:t>
            </a:r>
          </a:p>
          <a:p>
            <a:pPr lvl="0" algn="ctr">
              <a:defRPr/>
            </a:pPr>
            <a:r>
              <a:rPr lang="en-US" sz="2400" err="1">
                <a:solidFill>
                  <a:schemeClr val="bg1"/>
                </a:solidFill>
                <a:latin typeface="Times New Roman" panose="02020603050405020304" pitchFamily="18" charset="0"/>
                <a:cs typeface="Times New Roman" panose="02020603050405020304" pitchFamily="18" charset="0"/>
              </a:rPr>
              <a:t>MediMind</a:t>
            </a:r>
            <a:r>
              <a:rPr lang="en-US" sz="2400">
                <a:solidFill>
                  <a:schemeClr val="bg1"/>
                </a:solidFill>
                <a:latin typeface="Times New Roman" panose="02020603050405020304" pitchFamily="18" charset="0"/>
                <a:cs typeface="Times New Roman" panose="02020603050405020304" pitchFamily="18" charset="0"/>
              </a:rPr>
              <a:t>: AI-Powered Hospital Appointment &amp; Patient Care Platform</a:t>
            </a:r>
            <a:endParaRPr kumimoji="0" lang="en-US" sz="2400" i="0" u="none" strike="noStrike" kern="1200" cap="none" spc="0" normalizeH="0" baseline="0" noProof="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Review-2</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Methodology</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System Architecture</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10"/>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3"/>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7800656D-3344-F3D4-A63E-23887000E723}"/>
              </a:ext>
            </a:extLst>
          </p:cNvPr>
          <p:cNvSpPr txBox="1"/>
          <p:nvPr/>
        </p:nvSpPr>
        <p:spPr>
          <a:xfrm>
            <a:off x="383457" y="1556150"/>
            <a:ext cx="11257935" cy="4893647"/>
          </a:xfrm>
          <a:prstGeom prst="rect">
            <a:avLst/>
          </a:prstGeom>
          <a:noFill/>
        </p:spPr>
        <p:txBody>
          <a:bodyPr wrap="square">
            <a:spAutoFit/>
          </a:bodyPr>
          <a:lstStyle/>
          <a:p>
            <a:pPr algn="just">
              <a:buNone/>
            </a:pPr>
            <a:r>
              <a:rPr lang="en-IN" sz="2400">
                <a:latin typeface="Times New Roman" panose="02020603050405020304" pitchFamily="18" charset="0"/>
                <a:cs typeface="Times New Roman" panose="02020603050405020304" pitchFamily="18" charset="0"/>
              </a:rPr>
              <a:t>Traditional hospital appointment systems mainly focus on basic appointment scheduling and record management.</a:t>
            </a:r>
          </a:p>
          <a:p>
            <a:pPr algn="just">
              <a:buNone/>
            </a:pPr>
            <a:endParaRPr lang="en-IN" sz="2400">
              <a:latin typeface="Times New Roman" panose="02020603050405020304" pitchFamily="18" charset="0"/>
              <a:cs typeface="Times New Roman" panose="02020603050405020304" pitchFamily="18" charset="0"/>
            </a:endParaRPr>
          </a:p>
          <a:p>
            <a:pPr algn="just">
              <a:buNone/>
            </a:pPr>
            <a:r>
              <a:rPr lang="en-IN" sz="2400">
                <a:latin typeface="Times New Roman" panose="02020603050405020304" pitchFamily="18" charset="0"/>
                <a:cs typeface="Times New Roman" panose="02020603050405020304" pitchFamily="18" charset="0"/>
              </a:rPr>
              <a:t>They provide limited support for:</a:t>
            </a:r>
          </a:p>
          <a:p>
            <a:pPr marL="342900" lvl="0" indent="-342900" algn="just">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Understanding patient requirements </a:t>
            </a:r>
          </a:p>
          <a:p>
            <a:pPr marL="342900" lvl="0" indent="-342900" algn="just">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Guiding patients towards suitable healthcare services </a:t>
            </a:r>
          </a:p>
          <a:p>
            <a:pPr marL="342900" lvl="0" indent="-342900" algn="just">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Coordinating appointments efficiently </a:t>
            </a:r>
          </a:p>
          <a:p>
            <a:pPr marL="342900" lvl="0" indent="-342900" algn="just">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Managing hospital and department workload </a:t>
            </a:r>
          </a:p>
          <a:p>
            <a:pPr marL="342900" lvl="0" indent="-342900" algn="just">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Providing personalized healthcare assistance </a:t>
            </a:r>
          </a:p>
          <a:p>
            <a:pPr lvl="0" algn="just"/>
            <a:endParaRPr lang="en-IN" sz="2400">
              <a:latin typeface="Times New Roman" panose="02020603050405020304" pitchFamily="18" charset="0"/>
              <a:cs typeface="Times New Roman" panose="02020603050405020304" pitchFamily="18" charset="0"/>
            </a:endParaRPr>
          </a:p>
          <a:p>
            <a:pPr algn="just">
              <a:buNone/>
            </a:pPr>
            <a:r>
              <a:rPr lang="en-IN" sz="2400">
                <a:latin typeface="Times New Roman" panose="02020603050405020304" pitchFamily="18" charset="0"/>
                <a:cs typeface="Times New Roman" panose="02020603050405020304" pitchFamily="18" charset="0"/>
              </a:rPr>
              <a:t>Therefore, there is a need for a </a:t>
            </a:r>
            <a:r>
              <a:rPr lang="en-IN" sz="2400" b="1">
                <a:latin typeface="Times New Roman" panose="02020603050405020304" pitchFamily="18" charset="0"/>
                <a:cs typeface="Times New Roman" panose="02020603050405020304" pitchFamily="18" charset="0"/>
              </a:rPr>
              <a:t>secure, scalable, and intelligent healthcare platform</a:t>
            </a:r>
            <a:r>
              <a:rPr lang="en-IN" sz="2400">
                <a:latin typeface="Times New Roman" panose="02020603050405020304" pitchFamily="18" charset="0"/>
                <a:cs typeface="Times New Roman" panose="02020603050405020304" pitchFamily="18" charset="0"/>
              </a:rPr>
              <a:t> that can automate appointment-related workflows using </a:t>
            </a:r>
            <a:r>
              <a:rPr lang="en-IN" sz="2400" b="1">
                <a:latin typeface="Times New Roman" panose="02020603050405020304" pitchFamily="18" charset="0"/>
                <a:cs typeface="Times New Roman" panose="02020603050405020304" pitchFamily="18" charset="0"/>
              </a:rPr>
              <a:t>AI agents and SOA-based microservices</a:t>
            </a:r>
            <a:r>
              <a:rPr lang="en-IN" sz="24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3"/>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2F049519-CA28-AADC-3FB0-711DFB6FC20B}"/>
              </a:ext>
            </a:extLst>
          </p:cNvPr>
          <p:cNvSpPr txBox="1"/>
          <p:nvPr/>
        </p:nvSpPr>
        <p:spPr>
          <a:xfrm>
            <a:off x="462116" y="1504445"/>
            <a:ext cx="11061290" cy="4154984"/>
          </a:xfrm>
          <a:prstGeom prst="rect">
            <a:avLst/>
          </a:prstGeom>
          <a:noFill/>
        </p:spPr>
        <p:txBody>
          <a:bodyPr wrap="square">
            <a:spAutoFit/>
          </a:bodyPr>
          <a:lstStyle/>
          <a:p>
            <a:pPr marL="342900" indent="-342900" algn="just">
              <a:buFont typeface="Arial" panose="020B0604020202020204" pitchFamily="34" charset="0"/>
              <a:buChar char="•"/>
            </a:pPr>
            <a:r>
              <a:rPr lang="en-IN" sz="2200">
                <a:latin typeface="Times New Roman" panose="02020603050405020304" pitchFamily="18" charset="0"/>
                <a:cs typeface="Times New Roman" panose="02020603050405020304" pitchFamily="18" charset="0"/>
              </a:rPr>
              <a:t>O1. To develop a secure hospital appointment management platform using SOA and microservices.</a:t>
            </a:r>
          </a:p>
          <a:p>
            <a:pPr marL="342900" indent="-342900" algn="just">
              <a:buFont typeface="Arial" panose="020B0604020202020204" pitchFamily="34" charset="0"/>
              <a:buChar char="•"/>
            </a:pPr>
            <a:r>
              <a:rPr lang="en-IN" sz="2200">
                <a:latin typeface="Times New Roman" panose="02020603050405020304" pitchFamily="18" charset="0"/>
                <a:cs typeface="Times New Roman" panose="02020603050405020304" pitchFamily="18" charset="0"/>
              </a:rPr>
              <a:t>O2. To integrate AI-based agents for intelligent patient assistance and healthcare workflow automation.</a:t>
            </a:r>
          </a:p>
          <a:p>
            <a:pPr marL="342900" indent="-342900" algn="just">
              <a:buFont typeface="Arial" panose="020B0604020202020204" pitchFamily="34" charset="0"/>
              <a:buChar char="•"/>
            </a:pPr>
            <a:r>
              <a:rPr lang="en-IN" sz="2200">
                <a:latin typeface="Times New Roman" panose="02020603050405020304" pitchFamily="18" charset="0"/>
                <a:cs typeface="Times New Roman" panose="02020603050405020304" pitchFamily="18" charset="0"/>
              </a:rPr>
              <a:t>O3. To develop an AI Health Journey Predictor for generating personalized healthcare pathways.</a:t>
            </a:r>
          </a:p>
          <a:p>
            <a:pPr marL="342900" indent="-342900" algn="just">
              <a:buFont typeface="Arial" panose="020B0604020202020204" pitchFamily="34" charset="0"/>
              <a:buChar char="•"/>
            </a:pPr>
            <a:r>
              <a:rPr lang="en-IN" sz="2200">
                <a:latin typeface="Times New Roman" panose="02020603050405020304" pitchFamily="18" charset="0"/>
                <a:cs typeface="Times New Roman" panose="02020603050405020304" pitchFamily="18" charset="0"/>
              </a:rPr>
              <a:t>O4. To develop an AI Hospital Load Balancer for assisting appointment coordination based on workload and availability.</a:t>
            </a:r>
          </a:p>
          <a:p>
            <a:pPr marL="342900" indent="-342900" algn="just">
              <a:buFont typeface="Arial" panose="020B0604020202020204" pitchFamily="34" charset="0"/>
              <a:buChar char="•"/>
            </a:pPr>
            <a:r>
              <a:rPr lang="en-IN" sz="2200">
                <a:latin typeface="Times New Roman" panose="02020603050405020304" pitchFamily="18" charset="0"/>
                <a:cs typeface="Times New Roman" panose="02020603050405020304" pitchFamily="18" charset="0"/>
              </a:rPr>
              <a:t>O5. To develop an AI Digital Health Twin that maintains an evolving AI-generated summary of relevant patient information.</a:t>
            </a:r>
          </a:p>
          <a:p>
            <a:pPr marL="342900" indent="-342900" algn="just">
              <a:buFont typeface="Arial" panose="020B0604020202020204" pitchFamily="34" charset="0"/>
              <a:buChar char="•"/>
            </a:pPr>
            <a:r>
              <a:rPr lang="en-IN" sz="2200">
                <a:latin typeface="Times New Roman" panose="02020603050405020304" pitchFamily="18" charset="0"/>
                <a:cs typeface="Times New Roman" panose="02020603050405020304" pitchFamily="18" charset="0"/>
              </a:rPr>
              <a:t>O6. To evaluate the proposed system based on response time, appointment efficiency, resource utilization, security, and usability.</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52C67-D178-59E6-687C-5B9B79BC9F17}"/>
              </a:ext>
            </a:extLst>
          </p:cNvPr>
          <p:cNvSpPr>
            <a:spLocks noGrp="1"/>
          </p:cNvSpPr>
          <p:nvPr>
            <p:ph type="title"/>
          </p:nvPr>
        </p:nvSpPr>
        <p:spPr>
          <a:xfrm>
            <a:off x="700548" y="325796"/>
            <a:ext cx="10429568" cy="155985"/>
          </a:xfrm>
        </p:spPr>
        <p:txBody>
          <a:bodyPr>
            <a:normAutofit fontScale="90000"/>
          </a:bodyPr>
          <a:lstStyle/>
          <a:p>
            <a:pPr algn="ctr"/>
            <a:r>
              <a:rPr lang="en-IN" sz="3600" b="1" dirty="0">
                <a:latin typeface="+mn-lt"/>
              </a:rPr>
              <a:t>System Architecture</a:t>
            </a:r>
          </a:p>
        </p:txBody>
      </p:sp>
      <p:pic>
        <p:nvPicPr>
          <p:cNvPr id="6" name="Picture 5">
            <a:extLst>
              <a:ext uri="{FF2B5EF4-FFF2-40B4-BE49-F238E27FC236}">
                <a16:creationId xmlns:a16="http://schemas.microsoft.com/office/drawing/2014/main" id="{9C20E0B2-ABD9-9354-B19F-367AD5134E03}"/>
              </a:ext>
            </a:extLst>
          </p:cNvPr>
          <p:cNvPicPr>
            <a:picLocks noChangeAspect="1"/>
          </p:cNvPicPr>
          <p:nvPr/>
        </p:nvPicPr>
        <p:blipFill>
          <a:blip r:embed="rId3"/>
          <a:stretch>
            <a:fillRect/>
          </a:stretch>
        </p:blipFill>
        <p:spPr>
          <a:xfrm>
            <a:off x="932612" y="919512"/>
            <a:ext cx="10326776" cy="5886664"/>
          </a:xfrm>
          <a:prstGeom prst="rect">
            <a:avLst/>
          </a:prstGeom>
        </p:spPr>
      </p:pic>
    </p:spTree>
    <p:extLst>
      <p:ext uri="{BB962C8B-B14F-4D97-AF65-F5344CB8AC3E}">
        <p14:creationId xmlns:p14="http://schemas.microsoft.com/office/powerpoint/2010/main" val="3415013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A6FFE-2C80-4AC5-497D-2943329E6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4D400A-1F1F-D4B7-002C-5ED804190E86}"/>
              </a:ext>
            </a:extLst>
          </p:cNvPr>
          <p:cNvSpPr>
            <a:spLocks noGrp="1"/>
          </p:cNvSpPr>
          <p:nvPr>
            <p:ph type="title"/>
          </p:nvPr>
        </p:nvSpPr>
        <p:spPr>
          <a:xfrm>
            <a:off x="700548" y="502777"/>
            <a:ext cx="10429568" cy="155985"/>
          </a:xfrm>
        </p:spPr>
        <p:txBody>
          <a:bodyPr>
            <a:normAutofit fontScale="90000"/>
          </a:bodyPr>
          <a:lstStyle/>
          <a:p>
            <a:pPr algn="ctr"/>
            <a:r>
              <a:rPr lang="en-IN" sz="3600" b="1" dirty="0">
                <a:latin typeface="+mn-lt"/>
              </a:rPr>
              <a:t>Methodology</a:t>
            </a:r>
          </a:p>
        </p:txBody>
      </p:sp>
      <p:pic>
        <p:nvPicPr>
          <p:cNvPr id="4" name="Picture 3">
            <a:extLst>
              <a:ext uri="{FF2B5EF4-FFF2-40B4-BE49-F238E27FC236}">
                <a16:creationId xmlns:a16="http://schemas.microsoft.com/office/drawing/2014/main" id="{4E6C2C67-D2C1-669D-748D-289E39BE8292}"/>
              </a:ext>
            </a:extLst>
          </p:cNvPr>
          <p:cNvPicPr>
            <a:picLocks noChangeAspect="1"/>
          </p:cNvPicPr>
          <p:nvPr/>
        </p:nvPicPr>
        <p:blipFill>
          <a:blip r:embed="rId3"/>
          <a:stretch>
            <a:fillRect/>
          </a:stretch>
        </p:blipFill>
        <p:spPr>
          <a:xfrm>
            <a:off x="8544232" y="132141"/>
            <a:ext cx="2585884" cy="6400063"/>
          </a:xfrm>
          <a:prstGeom prst="rect">
            <a:avLst/>
          </a:prstGeom>
        </p:spPr>
      </p:pic>
      <p:sp>
        <p:nvSpPr>
          <p:cNvPr id="7" name="TextBox 6">
            <a:extLst>
              <a:ext uri="{FF2B5EF4-FFF2-40B4-BE49-F238E27FC236}">
                <a16:creationId xmlns:a16="http://schemas.microsoft.com/office/drawing/2014/main" id="{8F25D6B7-D9EB-EC9D-F7EA-801CB8EF0BDE}"/>
              </a:ext>
            </a:extLst>
          </p:cNvPr>
          <p:cNvSpPr txBox="1"/>
          <p:nvPr/>
        </p:nvSpPr>
        <p:spPr>
          <a:xfrm>
            <a:off x="540774" y="1443841"/>
            <a:ext cx="6695768" cy="3970318"/>
          </a:xfrm>
          <a:prstGeom prst="rect">
            <a:avLst/>
          </a:prstGeom>
          <a:noFill/>
        </p:spPr>
        <p:txBody>
          <a:bodyPr wrap="square">
            <a:spAutoFit/>
          </a:bodyPr>
          <a:lstStyle/>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Requirement Analysis</a:t>
            </a:r>
            <a:r>
              <a:rPr lang="en-IN" dirty="0">
                <a:latin typeface="Times New Roman" panose="02020603050405020304" pitchFamily="18" charset="0"/>
                <a:cs typeface="Times New Roman" panose="02020603050405020304" pitchFamily="18" charset="0"/>
              </a:rPr>
              <a:t> – Identify healthcare workflow problems and system requirements.</a:t>
            </a:r>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System Design</a:t>
            </a:r>
            <a:r>
              <a:rPr lang="en-IN" dirty="0">
                <a:latin typeface="Times New Roman" panose="02020603050405020304" pitchFamily="18" charset="0"/>
                <a:cs typeface="Times New Roman" panose="02020603050405020304" pitchFamily="18" charset="0"/>
              </a:rPr>
              <a:t> – Design the SOA-based architecture and define independent microservices.</a:t>
            </a:r>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Microservice Development</a:t>
            </a:r>
            <a:r>
              <a:rPr lang="en-IN" dirty="0">
                <a:latin typeface="Times New Roman" panose="02020603050405020304" pitchFamily="18" charset="0"/>
                <a:cs typeface="Times New Roman" panose="02020603050405020304" pitchFamily="18" charset="0"/>
              </a:rPr>
              <a:t> – Develop Authentication, Patient, Doctor, Appointment, AI, and Notification Services.</a:t>
            </a:r>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AI Integration</a:t>
            </a:r>
            <a:r>
              <a:rPr lang="en-IN" dirty="0">
                <a:latin typeface="Times New Roman" panose="02020603050405020304" pitchFamily="18" charset="0"/>
                <a:cs typeface="Times New Roman" panose="02020603050405020304" pitchFamily="18" charset="0"/>
              </a:rPr>
              <a:t> – Integrate AI agents for patient assistance, journey prediction, load balancing, and digital health twin.</a:t>
            </a:r>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Database &amp; Security</a:t>
            </a:r>
            <a:r>
              <a:rPr lang="en-IN" dirty="0">
                <a:latin typeface="Times New Roman" panose="02020603050405020304" pitchFamily="18" charset="0"/>
                <a:cs typeface="Times New Roman" panose="02020603050405020304" pitchFamily="18" charset="0"/>
              </a:rPr>
              <a:t> – Use MySQL for data management and JWT for authentication and authorization.</a:t>
            </a:r>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Integration &amp; Testing</a:t>
            </a:r>
            <a:r>
              <a:rPr lang="en-IN" dirty="0">
                <a:latin typeface="Times New Roman" panose="02020603050405020304" pitchFamily="18" charset="0"/>
                <a:cs typeface="Times New Roman" panose="02020603050405020304" pitchFamily="18" charset="0"/>
              </a:rPr>
              <a:t> – Connect services using REST APIs and test APIs using Postman.</a:t>
            </a:r>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Evaluation &amp; Improvement</a:t>
            </a:r>
            <a:r>
              <a:rPr lang="en-IN" dirty="0">
                <a:latin typeface="Times New Roman" panose="02020603050405020304" pitchFamily="18" charset="0"/>
                <a:cs typeface="Times New Roman" panose="02020603050405020304" pitchFamily="18" charset="0"/>
              </a:rPr>
              <a:t> – Evaluate functionality, security, usability, response time, and appointment workflow efficiency.</a:t>
            </a:r>
          </a:p>
        </p:txBody>
      </p:sp>
    </p:spTree>
    <p:extLst>
      <p:ext uri="{BB962C8B-B14F-4D97-AF65-F5344CB8AC3E}">
        <p14:creationId xmlns:p14="http://schemas.microsoft.com/office/powerpoint/2010/main" val="658445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B7C0D-1B97-D2E1-EE66-A6D44E6F09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A054DE-6ACA-66DA-1AB0-D7C262A5266D}"/>
              </a:ext>
            </a:extLst>
          </p:cNvPr>
          <p:cNvSpPr>
            <a:spLocks noGrp="1"/>
          </p:cNvSpPr>
          <p:nvPr>
            <p:ph type="title"/>
          </p:nvPr>
        </p:nvSpPr>
        <p:spPr>
          <a:xfrm>
            <a:off x="700548" y="522441"/>
            <a:ext cx="10429568" cy="155985"/>
          </a:xfrm>
        </p:spPr>
        <p:txBody>
          <a:bodyPr>
            <a:normAutofit fontScale="90000"/>
          </a:bodyPr>
          <a:lstStyle/>
          <a:p>
            <a:pPr algn="ctr"/>
            <a:r>
              <a:rPr lang="en-IN" sz="3600" b="1" dirty="0">
                <a:latin typeface="+mn-lt"/>
              </a:rPr>
              <a:t>Technical Soundness</a:t>
            </a:r>
          </a:p>
        </p:txBody>
      </p:sp>
      <p:sp>
        <p:nvSpPr>
          <p:cNvPr id="4" name="TextBox 3">
            <a:extLst>
              <a:ext uri="{FF2B5EF4-FFF2-40B4-BE49-F238E27FC236}">
                <a16:creationId xmlns:a16="http://schemas.microsoft.com/office/drawing/2014/main" id="{E7186507-2E2D-BDA7-75AF-D4E71BE1D652}"/>
              </a:ext>
            </a:extLst>
          </p:cNvPr>
          <p:cNvSpPr txBox="1"/>
          <p:nvPr/>
        </p:nvSpPr>
        <p:spPr>
          <a:xfrm>
            <a:off x="550606" y="1176892"/>
            <a:ext cx="7678994" cy="5078313"/>
          </a:xfrm>
          <a:prstGeom prst="rect">
            <a:avLst/>
          </a:prstGeom>
          <a:noFill/>
        </p:spPr>
        <p:txBody>
          <a:bodyPr wrap="square">
            <a:spAutoFit/>
          </a:bodyPr>
          <a:lstStyle/>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Frontend:</a:t>
            </a:r>
            <a:r>
              <a:rPr lang="en-IN" dirty="0">
                <a:latin typeface="Times New Roman" panose="02020603050405020304" pitchFamily="18" charset="0"/>
                <a:cs typeface="Times New Roman" panose="02020603050405020304" pitchFamily="18" charset="0"/>
              </a:rPr>
              <a:t> React-based web interface for patients, doctors, and administrators.</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Backend:</a:t>
            </a:r>
            <a:r>
              <a:rPr lang="en-IN" dirty="0">
                <a:latin typeface="Times New Roman" panose="02020603050405020304" pitchFamily="18" charset="0"/>
                <a:cs typeface="Times New Roman" panose="02020603050405020304" pitchFamily="18" charset="0"/>
              </a:rPr>
              <a:t> Java + Spring Boot for developing independent microservices.</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SOA:</a:t>
            </a:r>
            <a:r>
              <a:rPr lang="en-IN" dirty="0">
                <a:latin typeface="Times New Roman" panose="02020603050405020304" pitchFamily="18" charset="0"/>
                <a:cs typeface="Times New Roman" panose="02020603050405020304" pitchFamily="18" charset="0"/>
              </a:rPr>
              <a:t> Authentication, Patient, Doctor, Appointment, AI, and Notification Services.</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API Gateway:</a:t>
            </a:r>
            <a:r>
              <a:rPr lang="en-IN" dirty="0">
                <a:latin typeface="Times New Roman" panose="02020603050405020304" pitchFamily="18" charset="0"/>
                <a:cs typeface="Times New Roman" panose="02020603050405020304" pitchFamily="18" charset="0"/>
              </a:rPr>
              <a:t> Spring Cloud Gateway routes client requests to the appropriate service.</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Service Discovery:</a:t>
            </a:r>
            <a:r>
              <a:rPr lang="en-IN" dirty="0">
                <a:latin typeface="Times New Roman" panose="02020603050405020304" pitchFamily="18" charset="0"/>
                <a:cs typeface="Times New Roman" panose="02020603050405020304" pitchFamily="18" charset="0"/>
              </a:rPr>
              <a:t> Eureka enables dynamic registration and discovery of microservices.</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Communication:</a:t>
            </a:r>
            <a:r>
              <a:rPr lang="en-IN" dirty="0">
                <a:latin typeface="Times New Roman" panose="02020603050405020304" pitchFamily="18" charset="0"/>
                <a:cs typeface="Times New Roman" panose="02020603050405020304" pitchFamily="18" charset="0"/>
              </a:rPr>
              <a:t> REST APIs are used for communication between frontend and backend services.</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Database:</a:t>
            </a:r>
            <a:r>
              <a:rPr lang="en-IN" dirty="0">
                <a:latin typeface="Times New Roman" panose="02020603050405020304" pitchFamily="18" charset="0"/>
                <a:cs typeface="Times New Roman" panose="02020603050405020304" pitchFamily="18" charset="0"/>
              </a:rPr>
              <a:t> MySQL stores user, doctor, patient, and appointment-related data.</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Security:</a:t>
            </a:r>
            <a:r>
              <a:rPr lang="en-IN" dirty="0">
                <a:latin typeface="Times New Roman" panose="02020603050405020304" pitchFamily="18" charset="0"/>
                <a:cs typeface="Times New Roman" panose="02020603050405020304" pitchFamily="18" charset="0"/>
              </a:rPr>
              <a:t> JWT-based authentication and role-based authorization protect system resources.</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AI Integration:</a:t>
            </a:r>
            <a:r>
              <a:rPr lang="en-IN" dirty="0">
                <a:latin typeface="Times New Roman" panose="02020603050405020304" pitchFamily="18" charset="0"/>
                <a:cs typeface="Times New Roman" panose="02020603050405020304" pitchFamily="18" charset="0"/>
              </a:rPr>
              <a:t> AI Service provides intelligent patient assistance and AI-based healthcare workflow support.</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Testing &amp; Version Control:</a:t>
            </a:r>
            <a:r>
              <a:rPr lang="en-IN" dirty="0">
                <a:latin typeface="Times New Roman" panose="02020603050405020304" pitchFamily="18" charset="0"/>
                <a:cs typeface="Times New Roman" panose="02020603050405020304" pitchFamily="18" charset="0"/>
              </a:rPr>
              <a:t> Postman is used for API testing, while Git/GitHub is used for version control and project management.</a:t>
            </a:r>
          </a:p>
        </p:txBody>
      </p:sp>
      <p:pic>
        <p:nvPicPr>
          <p:cNvPr id="7" name="Picture 6">
            <a:extLst>
              <a:ext uri="{FF2B5EF4-FFF2-40B4-BE49-F238E27FC236}">
                <a16:creationId xmlns:a16="http://schemas.microsoft.com/office/drawing/2014/main" id="{018A87DC-9C70-4D4C-3184-102F7A80B390}"/>
              </a:ext>
            </a:extLst>
          </p:cNvPr>
          <p:cNvPicPr>
            <a:picLocks noChangeAspect="1"/>
          </p:cNvPicPr>
          <p:nvPr/>
        </p:nvPicPr>
        <p:blipFill>
          <a:blip r:embed="rId3"/>
          <a:stretch>
            <a:fillRect/>
          </a:stretch>
        </p:blipFill>
        <p:spPr>
          <a:xfrm>
            <a:off x="7900219" y="0"/>
            <a:ext cx="4572000" cy="6858000"/>
          </a:xfrm>
          <a:prstGeom prst="rect">
            <a:avLst/>
          </a:prstGeom>
        </p:spPr>
      </p:pic>
    </p:spTree>
    <p:extLst>
      <p:ext uri="{BB962C8B-B14F-4D97-AF65-F5344CB8AC3E}">
        <p14:creationId xmlns:p14="http://schemas.microsoft.com/office/powerpoint/2010/main" val="3719702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3"/>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C5ADC3A7-CBCA-9AC4-EA94-DFF2487FEFB3}"/>
              </a:ext>
            </a:extLst>
          </p:cNvPr>
          <p:cNvSpPr txBox="1"/>
          <p:nvPr/>
        </p:nvSpPr>
        <p:spPr>
          <a:xfrm>
            <a:off x="491613" y="1456608"/>
            <a:ext cx="8996516" cy="4801314"/>
          </a:xfrm>
          <a:prstGeom prst="rect">
            <a:avLst/>
          </a:prstGeom>
          <a:noFill/>
        </p:spPr>
        <p:txBody>
          <a:bodyPr wrap="square">
            <a:spAutoFit/>
          </a:bodyPr>
          <a:lstStyle/>
          <a:p>
            <a:pPr algn="just">
              <a:buNone/>
            </a:pPr>
            <a:r>
              <a:rPr lang="en-IN">
                <a:latin typeface="Times New Roman" panose="02020603050405020304" pitchFamily="18" charset="0"/>
                <a:cs typeface="Times New Roman" panose="02020603050405020304" pitchFamily="18" charset="0"/>
              </a:rPr>
              <a:t>Existing Healthcare Appointment Systems</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Mainly focus on appointment booking and cancellation.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Provide basic doctor and department search.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Maintain mostly static patient information.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Have limited personalization.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Usually do not coordinate multiple intelligent healthcare workflows. </a:t>
            </a:r>
          </a:p>
          <a:p>
            <a:pPr algn="just">
              <a:buNone/>
            </a:pPr>
            <a:r>
              <a:rPr lang="en-IN">
                <a:latin typeface="Times New Roman" panose="02020603050405020304" pitchFamily="18" charset="0"/>
                <a:cs typeface="Times New Roman" panose="02020603050405020304" pitchFamily="18" charset="0"/>
              </a:rPr>
              <a:t>Identified Research Gap</a:t>
            </a:r>
          </a:p>
          <a:p>
            <a:pPr algn="just">
              <a:buNone/>
            </a:pPr>
            <a:r>
              <a:rPr lang="en-IN">
                <a:latin typeface="Times New Roman" panose="02020603050405020304" pitchFamily="18" charset="0"/>
                <a:cs typeface="Times New Roman" panose="02020603050405020304" pitchFamily="18" charset="0"/>
              </a:rPr>
              <a:t>There is a need for an integrated platform that combines:</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Agentic AI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Intelligent appointment coordination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Personalized healthcare journeys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AI-assisted hospital resource management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AI-generated patient health profiles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SOA-based microservices </a:t>
            </a:r>
          </a:p>
          <a:p>
            <a:pPr algn="just">
              <a:buNone/>
            </a:pPr>
            <a:r>
              <a:rPr lang="en-IN">
                <a:latin typeface="Times New Roman" panose="02020603050405020304" pitchFamily="18" charset="0"/>
                <a:cs typeface="Times New Roman" panose="02020603050405020304" pitchFamily="18" charset="0"/>
              </a:rPr>
              <a:t>Proposed Gap Addressed</a:t>
            </a:r>
          </a:p>
          <a:p>
            <a:pPr algn="just">
              <a:buNone/>
            </a:pPr>
            <a:r>
              <a:rPr lang="en-IN" err="1">
                <a:latin typeface="Times New Roman" panose="02020603050405020304" pitchFamily="18" charset="0"/>
                <a:cs typeface="Times New Roman" panose="02020603050405020304" pitchFamily="18" charset="0"/>
              </a:rPr>
              <a:t>MediMind</a:t>
            </a:r>
            <a:r>
              <a:rPr lang="en-IN">
                <a:latin typeface="Times New Roman" panose="02020603050405020304" pitchFamily="18" charset="0"/>
                <a:cs typeface="Times New Roman" panose="02020603050405020304" pitchFamily="18" charset="0"/>
              </a:rPr>
              <a:t> AI bridges this gap by integrating multiple AI agents with independently managed SOA microservices into a unified healthcare appointment and patient-care platform.</a:t>
            </a:r>
          </a:p>
        </p:txBody>
      </p:sp>
    </p:spTree>
    <p:extLst>
      <p:ext uri="{BB962C8B-B14F-4D97-AF65-F5344CB8AC3E}">
        <p14:creationId xmlns:p14="http://schemas.microsoft.com/office/powerpoint/2010/main" val="2065876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878925193"/>
              </p:ext>
            </p:extLst>
          </p:nvPr>
        </p:nvGraphicFramePr>
        <p:xfrm>
          <a:off x="274646" y="689466"/>
          <a:ext cx="11642705" cy="468207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lvl="0" algn="ctr">
                        <a:buNone/>
                      </a:pPr>
                      <a:r>
                        <a:rPr lang="en-US">
                          <a:latin typeface="Times New Roman"/>
                          <a:cs typeface="Times New Roman"/>
                        </a:rPr>
                        <a:t>Authors</a:t>
                      </a:r>
                      <a:endParaRPr lang="en-US"/>
                    </a:p>
                  </a:txBody>
                  <a:tcPr>
                    <a:solidFill>
                      <a:srgbClr val="FFFF00"/>
                    </a:solidFill>
                  </a:tcPr>
                </a:tc>
                <a:tc>
                  <a:txBody>
                    <a:bodyPr/>
                    <a:lstStyle/>
                    <a:p>
                      <a:pPr marL="0" marR="0" lvl="0" indent="0" algn="ctr" rtl="0">
                        <a:lnSpc>
                          <a:spcPct val="100000"/>
                        </a:lnSpc>
                        <a:spcBef>
                          <a:spcPts val="0"/>
                        </a:spcBef>
                        <a:spcAft>
                          <a:spcPts val="0"/>
                        </a:spcAft>
                        <a:buSzTx/>
                        <a:buFont typeface="Arial"/>
                        <a:buNone/>
                      </a:pPr>
                      <a:r>
                        <a:rPr lang="en-US">
                          <a:latin typeface="Times New Roman"/>
                          <a:cs typeface="Times New Roman"/>
                        </a:rPr>
                        <a:t>Title of the Paper</a:t>
                      </a:r>
                      <a:endParaRPr lang="en-US"/>
                    </a:p>
                  </a:txBody>
                  <a:tcPr>
                    <a:solidFill>
                      <a:srgbClr val="FFFF00"/>
                    </a:solidFill>
                  </a:tcPr>
                </a:tc>
                <a:tc>
                  <a:txBody>
                    <a:bodyPr/>
                    <a:lstStyle/>
                    <a:p>
                      <a:pPr lvl="0" algn="ctr">
                        <a:buNone/>
                      </a:pPr>
                      <a:r>
                        <a:rPr lang="en-US">
                          <a:latin typeface="Times New Roman"/>
                          <a:cs typeface="Times New Roman"/>
                        </a:rPr>
                        <a:t>Methodology</a:t>
                      </a:r>
                      <a:endParaRPr lang="en-US"/>
                    </a:p>
                  </a:txBody>
                  <a:tcPr>
                    <a:solidFill>
                      <a:srgbClr val="FFFF00"/>
                    </a:solidFill>
                  </a:tcPr>
                </a:tc>
                <a:tc>
                  <a:txBody>
                    <a:bodyPr/>
                    <a:lstStyle/>
                    <a:p>
                      <a:pPr lvl="0" algn="ctr">
                        <a:buNone/>
                      </a:pPr>
                      <a:r>
                        <a:rPr lang="en-US">
                          <a:latin typeface="Times New Roman"/>
                          <a:cs typeface="Times New Roman"/>
                        </a:rPr>
                        <a:t>Inferences</a:t>
                      </a:r>
                      <a:endParaRPr lang="en-US"/>
                    </a:p>
                  </a:txBody>
                  <a:tcPr>
                    <a:solidFill>
                      <a:srgbClr val="FFFF00"/>
                    </a:solidFill>
                  </a:tcPr>
                </a:tc>
                <a:tc>
                  <a:txBody>
                    <a:bodyPr/>
                    <a:lstStyle/>
                    <a:p>
                      <a:pPr lvl="0" algn="ctr">
                        <a:buNone/>
                      </a:pPr>
                      <a:r>
                        <a:rPr lang="en-US">
                          <a:latin typeface="Times New Roman"/>
                          <a:cs typeface="Times New Roman"/>
                        </a:rPr>
                        <a:t>Limitation/Future work</a:t>
                      </a:r>
                      <a:endParaRPr lang="en-US"/>
                    </a:p>
                  </a:txBody>
                  <a:tcPr>
                    <a:solidFill>
                      <a:srgbClr val="FFFF00"/>
                    </a:solidFill>
                  </a:tcPr>
                </a:tc>
                <a:extLst>
                  <a:ext uri="{0D108BD9-81ED-4DB2-BD59-A6C34878D82A}">
                    <a16:rowId xmlns:a16="http://schemas.microsoft.com/office/drawing/2014/main" val="10000"/>
                  </a:ext>
                </a:extLst>
              </a:tr>
              <a:tr h="1541937">
                <a:tc>
                  <a:txBody>
                    <a:bodyPr/>
                    <a:lstStyle/>
                    <a:p>
                      <a:pPr marL="0" lvl="0" algn="l" rtl="0">
                        <a:buNone/>
                      </a:pPr>
                      <a:r>
                        <a:rPr lang="en-IN" sz="1400">
                          <a:solidFill>
                            <a:srgbClr val="FF0000"/>
                          </a:solidFill>
                          <a:latin typeface="Times New Roman" panose="02020603050405020304" pitchFamily="18" charset="0"/>
                          <a:cs typeface="Times New Roman" panose="02020603050405020304" pitchFamily="18" charset="0"/>
                        </a:rPr>
                        <a:t>Ali Ala, Feng Chen</a:t>
                      </a:r>
                      <a:endParaRPr lang="en-IN" sz="1400" kern="120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lvl="0">
                        <a:buNone/>
                      </a:pP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Appointment Scheduling Problem in Complexity Systems of the Healthcare Services</a:t>
                      </a:r>
                      <a:endParaRPr lang="en-US">
                        <a:latin typeface="Times New Roman" panose="02020603050405020304" pitchFamily="18" charset="0"/>
                        <a:cs typeface="Times New Roman" panose="02020603050405020304" pitchFamily="18" charset="0"/>
                      </a:endParaRPr>
                    </a:p>
                  </a:txBody>
                  <a:tcPr/>
                </a:tc>
                <a:tc>
                  <a:txBody>
                    <a:bodyPr/>
                    <a:lstStyle/>
                    <a:p>
                      <a:pPr marL="285750" marR="0" lvl="0" indent="-285750" algn="just">
                        <a:lnSpc>
                          <a:spcPct val="100000"/>
                        </a:lnSpc>
                        <a:spcBef>
                          <a:spcPts val="0"/>
                        </a:spcBef>
                        <a:spcAft>
                          <a:spcPts val="0"/>
                        </a:spcAft>
                        <a:buClr>
                          <a:srgbClr val="000000"/>
                        </a:buClr>
                        <a:buFont typeface="Arial" panose="020B0604020202020204" pitchFamily="34" charset="0"/>
                        <a:buChar char="•"/>
                      </a:pP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Review of 150+ healthcare scheduling studies </a:t>
                      </a:r>
                      <a:r>
                        <a:rPr lang="en-IN" sz="1400">
                          <a:solidFill>
                            <a:srgbClr val="FF0000"/>
                          </a:solidFill>
                          <a:latin typeface="Times New Roman" panose="02020603050405020304" pitchFamily="18" charset="0"/>
                          <a:cs typeface="Times New Roman" panose="02020603050405020304" pitchFamily="18" charset="0"/>
                        </a:rPr>
                        <a:t>covering patient flow, preferences, waiting time, uncertainty, simulation, mathematical optimization, and AI-based approaches.</a:t>
                      </a:r>
                      <a:endParaRPr lang="en-US" sz="1400">
                        <a:solidFill>
                          <a:srgbClr val="FF0000"/>
                        </a:solidFill>
                        <a:latin typeface="Times New Roman" panose="02020603050405020304" pitchFamily="18" charset="0"/>
                        <a:cs typeface="Times New Roman" panose="02020603050405020304" pitchFamily="18" charset="0"/>
                        <a:sym typeface="Arial"/>
                      </a:endParaRPr>
                    </a:p>
                  </a:txBody>
                  <a:tcPr/>
                </a:tc>
                <a:tc>
                  <a:txBody>
                    <a:bodyPr/>
                    <a:lstStyle/>
                    <a:p>
                      <a:pPr marL="285750" marR="0" lvl="0" indent="-285750" algn="just">
                        <a:lnSpc>
                          <a:spcPct val="100000"/>
                        </a:lnSpc>
                        <a:spcBef>
                          <a:spcPts val="0"/>
                        </a:spcBef>
                        <a:spcAft>
                          <a:spcPts val="0"/>
                        </a:spcAft>
                        <a:buClr>
                          <a:srgbClr val="000000"/>
                        </a:buClr>
                        <a:buFont typeface="Arial" panose="020B0604020202020204" pitchFamily="34" charset="0"/>
                        <a:buChar char="•"/>
                      </a:pP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AI and optimization can reduce waiting time and improve resource utilization</a:t>
                      </a:r>
                      <a:endParaRPr lang="en-US">
                        <a:latin typeface="Times New Roman" panose="02020603050405020304" pitchFamily="18" charset="0"/>
                        <a:cs typeface="Times New Roman" panose="02020603050405020304" pitchFamily="18" charset="0"/>
                        <a:sym typeface="Arial"/>
                      </a:endParaRPr>
                    </a:p>
                  </a:txBody>
                  <a:tcPr/>
                </a:tc>
                <a:tc>
                  <a:txBody>
                    <a:bodyPr/>
                    <a:lstStyle/>
                    <a:p>
                      <a:pPr marL="285750" lvl="0" indent="-285750" algn="l">
                        <a:buFont typeface="Arial" panose="020B0604020202020204" pitchFamily="34" charset="0"/>
                        <a:buChar char="•"/>
                      </a:pP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Scheduling remains complex due to uncertainty and patient preferences</a:t>
                      </a:r>
                      <a:endParaRPr lang="en-US" sz="1400" b="0" i="0" u="none" kern="120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lvl="0" algn="l">
                        <a:buNone/>
                      </a:pP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Knight et al. (2023)</a:t>
                      </a:r>
                      <a:endParaRPr lang="en-US">
                        <a:solidFill>
                          <a:srgbClr val="FF0000"/>
                        </a:solidFill>
                        <a:latin typeface="Times New Roman" panose="02020603050405020304" pitchFamily="18" charset="0"/>
                        <a:cs typeface="Times New Roman" panose="02020603050405020304" pitchFamily="18" charset="0"/>
                      </a:endParaRPr>
                    </a:p>
                  </a:txBody>
                  <a:tcPr/>
                </a:tc>
                <a:tc>
                  <a:txBody>
                    <a:bodyPr/>
                    <a:lstStyle/>
                    <a:p>
                      <a:pPr lvl="0">
                        <a:buNone/>
                      </a:pP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Artificial Intelligence for Patient Scheduling in the Real-World Health Care Setting</a:t>
                      </a:r>
                      <a:endParaRPr lang="en-US">
                        <a:solidFill>
                          <a:srgbClr val="FF0000"/>
                        </a:solidFill>
                        <a:latin typeface="Times New Roman" panose="02020603050405020304" pitchFamily="18" charset="0"/>
                        <a:cs typeface="Times New Roman" panose="02020603050405020304" pitchFamily="18" charset="0"/>
                      </a:endParaRPr>
                    </a:p>
                  </a:txBody>
                  <a:tcPr/>
                </a:tc>
                <a:tc>
                  <a:txBody>
                    <a:bodyPr/>
                    <a:lstStyle/>
                    <a:p>
                      <a:pPr marL="285750" marR="0" lvl="0" indent="-285750" algn="l" rtl="0">
                        <a:lnSpc>
                          <a:spcPct val="100000"/>
                        </a:lnSpc>
                        <a:spcBef>
                          <a:spcPts val="0"/>
                        </a:spcBef>
                        <a:spcAft>
                          <a:spcPts val="0"/>
                        </a:spcAft>
                        <a:buClr>
                          <a:srgbClr val="000000"/>
                        </a:buClr>
                        <a:buFont typeface="Arial" panose="020B0604020202020204" pitchFamily="34" charset="0"/>
                        <a:buChar char="•"/>
                      </a:pPr>
                      <a:r>
                        <a:rPr lang="en-US" sz="1400" b="0" i="0" u="none" strike="noStrike" kern="1200" noProof="0">
                          <a:solidFill>
                            <a:srgbClr val="FF0000"/>
                          </a:solidFill>
                          <a:effectLst/>
                          <a:latin typeface="Times New Roman" panose="02020603050405020304" pitchFamily="18" charset="0"/>
                          <a:cs typeface="Times New Roman" panose="02020603050405020304" pitchFamily="18" charset="0"/>
                        </a:rPr>
                        <a:t>Metanarrative review of 11 real-world AI scheduling studies</a:t>
                      </a:r>
                      <a:endParaRPr lang="en-US" sz="1400" b="0" i="0" u="none" kern="120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lvl="0" indent="-285750" algn="l" rtl="0">
                        <a:lnSpc>
                          <a:spcPct val="100000"/>
                        </a:lnSpc>
                        <a:spcBef>
                          <a:spcPts val="0"/>
                        </a:spcBef>
                        <a:spcAft>
                          <a:spcPts val="0"/>
                        </a:spcAft>
                        <a:buClr>
                          <a:srgbClr val="000000"/>
                        </a:buClr>
                        <a:buFont typeface="Arial" panose="020B0604020202020204" pitchFamily="34" charset="0"/>
                        <a:buChar char="•"/>
                      </a:pPr>
                      <a:r>
                        <a:rPr lang="en-US" sz="1400" b="0" i="0" u="none" strike="noStrike" kern="1200" noProof="0">
                          <a:solidFill>
                            <a:srgbClr val="FF0000"/>
                          </a:solidFill>
                          <a:effectLst/>
                          <a:latin typeface="Times New Roman" panose="02020603050405020304" pitchFamily="18" charset="0"/>
                          <a:cs typeface="Times New Roman" panose="02020603050405020304" pitchFamily="18" charset="0"/>
                        </a:rPr>
                        <a:t>AI can improve scheduling efficiency, workload, and patient-directed care</a:t>
                      </a:r>
                      <a:endParaRPr lang="en-US" sz="1400" b="0" i="0" u="none" kern="120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lvl="0" indent="-285750" algn="l" rtl="0">
                        <a:buFont typeface="Arial" panose="020B0604020202020204" pitchFamily="34" charset="0"/>
                        <a:buChar char="•"/>
                      </a:pPr>
                      <a:r>
                        <a:rPr lang="en-US" sz="1400" b="0" i="0" u="none" strike="noStrike" kern="1200" noProof="0">
                          <a:solidFill>
                            <a:srgbClr val="FF0000"/>
                          </a:solidFill>
                          <a:effectLst/>
                          <a:latin typeface="Times New Roman" panose="02020603050405020304" pitchFamily="18" charset="0"/>
                          <a:cs typeface="Times New Roman" panose="02020603050405020304" pitchFamily="18" charset="0"/>
                        </a:rPr>
                        <a:t>Evidence is heterogeneous; further validation and bias assessment needed</a:t>
                      </a:r>
                      <a:endParaRPr lang="en-US" sz="1400" b="0" i="0" u="none" kern="120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lvl="0" algn="l">
                        <a:buNone/>
                      </a:pP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Drummond &amp; </a:t>
                      </a:r>
                      <a:r>
                        <a:rPr lang="en-IN" sz="1400" b="0" i="0" u="none" strike="noStrike" kern="1200" noProof="0" err="1">
                          <a:solidFill>
                            <a:srgbClr val="FF0000"/>
                          </a:solidFill>
                          <a:effectLst/>
                          <a:latin typeface="Times New Roman" panose="02020603050405020304" pitchFamily="18" charset="0"/>
                          <a:cs typeface="Times New Roman" panose="02020603050405020304" pitchFamily="18" charset="0"/>
                        </a:rPr>
                        <a:t>Gonsard</a:t>
                      </a: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 (2024)</a:t>
                      </a:r>
                      <a:endParaRPr lang="en-US">
                        <a:solidFill>
                          <a:srgbClr val="FF0000"/>
                        </a:solidFill>
                        <a:latin typeface="Times New Roman" panose="02020603050405020304" pitchFamily="18" charset="0"/>
                        <a:cs typeface="Times New Roman" panose="02020603050405020304" pitchFamily="18" charset="0"/>
                      </a:endParaRPr>
                    </a:p>
                  </a:txBody>
                  <a:tcPr/>
                </a:tc>
                <a:tc>
                  <a:txBody>
                    <a:bodyPr/>
                    <a:lstStyle/>
                    <a:p>
                      <a:pPr lvl="0">
                        <a:buNone/>
                      </a:pP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Definitions and Characteristics of Patient Digital Twins Being Developed for Clinical Use</a:t>
                      </a:r>
                      <a:endParaRPr lang="en-US">
                        <a:solidFill>
                          <a:srgbClr val="FF0000"/>
                        </a:solidFill>
                        <a:latin typeface="Times New Roman" panose="02020603050405020304" pitchFamily="18" charset="0"/>
                        <a:cs typeface="Times New Roman" panose="02020603050405020304" pitchFamily="18" charset="0"/>
                      </a:endParaRPr>
                    </a:p>
                  </a:txBody>
                  <a:tcPr/>
                </a:tc>
                <a:tc>
                  <a:txBody>
                    <a:bodyPr/>
                    <a:lstStyle/>
                    <a:p>
                      <a:pPr marL="285750" marR="0" lvl="0" indent="-285750" algn="l" rtl="0">
                        <a:lnSpc>
                          <a:spcPct val="100000"/>
                        </a:lnSpc>
                        <a:spcBef>
                          <a:spcPts val="0"/>
                        </a:spcBef>
                        <a:spcAft>
                          <a:spcPts val="0"/>
                        </a:spcAft>
                        <a:buClr>
                          <a:srgbClr val="000000"/>
                        </a:buClr>
                        <a:buFont typeface="Arial" panose="020B0604020202020204" pitchFamily="34" charset="0"/>
                        <a:buChar char="•"/>
                      </a:pPr>
                      <a:r>
                        <a:rPr lang="en-US" sz="1400" b="0" i="0" u="none" strike="noStrike" kern="1200" noProof="0">
                          <a:solidFill>
                            <a:srgbClr val="FF0000"/>
                          </a:solidFill>
                          <a:effectLst/>
                          <a:latin typeface="Times New Roman" panose="02020603050405020304" pitchFamily="18" charset="0"/>
                          <a:cs typeface="Times New Roman" panose="02020603050405020304" pitchFamily="18" charset="0"/>
                        </a:rPr>
                        <a:t>Scoping review of 86 papers / 80 claimed Digital Twins</a:t>
                      </a:r>
                      <a:endParaRPr lang="en-US" sz="1400" b="0" u="none" kern="1200">
                        <a:solidFill>
                          <a:srgbClr val="FF0000"/>
                        </a:solidFill>
                        <a:effectLst/>
                        <a:latin typeface="Times New Roman" panose="02020603050405020304" pitchFamily="18" charset="0"/>
                        <a:cs typeface="Times New Roman" panose="02020603050405020304" pitchFamily="18" charset="0"/>
                      </a:endParaRPr>
                    </a:p>
                  </a:txBody>
                  <a:tcPr/>
                </a:tc>
                <a:tc>
                  <a:txBody>
                    <a:bodyPr/>
                    <a:lstStyle/>
                    <a:p>
                      <a:pPr marL="285750" marR="0" lvl="0" indent="-285750" algn="l" rtl="0">
                        <a:lnSpc>
                          <a:spcPct val="100000"/>
                        </a:lnSpc>
                        <a:spcBef>
                          <a:spcPts val="0"/>
                        </a:spcBef>
                        <a:spcAft>
                          <a:spcPts val="0"/>
                        </a:spcAft>
                        <a:buClr>
                          <a:srgbClr val="000000"/>
                        </a:buClr>
                        <a:buFont typeface="Arial" panose="020B0604020202020204" pitchFamily="34" charset="0"/>
                        <a:buChar char="•"/>
                      </a:pPr>
                      <a:r>
                        <a:rPr lang="en-US" sz="1400" b="0" i="0" u="none" strike="noStrike" kern="1200" noProof="0">
                          <a:solidFill>
                            <a:srgbClr val="FF0000"/>
                          </a:solidFill>
                          <a:effectLst/>
                          <a:latin typeface="Times New Roman" panose="02020603050405020304" pitchFamily="18" charset="0"/>
                          <a:cs typeface="Times New Roman" panose="02020603050405020304" pitchFamily="18" charset="0"/>
                        </a:rPr>
                        <a:t>Digital Twins can integrate multiple types of patient data</a:t>
                      </a:r>
                      <a:endParaRPr lang="en-US" sz="1400" b="0" i="0" u="none" kern="120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lvl="0" indent="-285750" algn="l" rtl="0">
                        <a:buFont typeface="Arial" panose="020B0604020202020204" pitchFamily="34" charset="0"/>
                        <a:buChar char="•"/>
                      </a:pPr>
                      <a:r>
                        <a:rPr lang="en-US" sz="1400" b="0" i="0" u="none" strike="noStrike" kern="1200" noProof="0">
                          <a:solidFill>
                            <a:srgbClr val="FF0000"/>
                          </a:solidFill>
                          <a:effectLst/>
                          <a:latin typeface="Times New Roman" panose="02020603050405020304" pitchFamily="18" charset="0"/>
                          <a:cs typeface="Times New Roman" panose="02020603050405020304" pitchFamily="18" charset="0"/>
                        </a:rPr>
                        <a:t>Lack of consensus and limited clinical maturity</a:t>
                      </a:r>
                      <a:endParaRPr lang="en-US" sz="1400" b="1" i="0" u="none" kern="120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9</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3"/>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4D978CD5-3D85-23DE-02B2-177DD32CB169}"/>
              </a:ext>
            </a:extLst>
          </p:cNvPr>
          <p:cNvSpPr txBox="1"/>
          <p:nvPr/>
        </p:nvSpPr>
        <p:spPr>
          <a:xfrm>
            <a:off x="589935" y="2087091"/>
            <a:ext cx="9311148" cy="3477875"/>
          </a:xfrm>
          <a:prstGeom prst="rect">
            <a:avLst/>
          </a:prstGeom>
          <a:noFill/>
        </p:spPr>
        <p:txBody>
          <a:bodyPr wrap="square">
            <a:spAutoFit/>
          </a:bodyPr>
          <a:lstStyle/>
          <a:p>
            <a:pPr algn="just">
              <a:buNone/>
            </a:pPr>
            <a:r>
              <a:rPr lang="en-IN" sz="2000" b="1">
                <a:latin typeface="Times New Roman" panose="02020603050405020304" pitchFamily="18" charset="0"/>
                <a:cs typeface="Times New Roman" panose="02020603050405020304" pitchFamily="18" charset="0"/>
              </a:rPr>
              <a:t>1. AI Health Journey Predictor</a:t>
            </a:r>
          </a:p>
          <a:p>
            <a:pPr algn="just">
              <a:buNone/>
            </a:pPr>
            <a:r>
              <a:rPr lang="en-IN" sz="2000">
                <a:latin typeface="Times New Roman" panose="02020603050405020304" pitchFamily="18" charset="0"/>
                <a:cs typeface="Times New Roman" panose="02020603050405020304" pitchFamily="18" charset="0"/>
              </a:rPr>
              <a:t>Generates a personalized healthcare pathway based on relevant patient information and helps the patient understand possible next steps in their healthcare process.</a:t>
            </a:r>
          </a:p>
          <a:p>
            <a:pPr algn="just">
              <a:buNone/>
            </a:pPr>
            <a:endParaRPr lang="en-IN" sz="2000">
              <a:latin typeface="Times New Roman" panose="02020603050405020304" pitchFamily="18" charset="0"/>
              <a:cs typeface="Times New Roman" panose="02020603050405020304" pitchFamily="18" charset="0"/>
            </a:endParaRPr>
          </a:p>
          <a:p>
            <a:pPr algn="just">
              <a:buNone/>
            </a:pPr>
            <a:r>
              <a:rPr lang="en-IN" sz="2000" b="1">
                <a:latin typeface="Times New Roman" panose="02020603050405020304" pitchFamily="18" charset="0"/>
                <a:cs typeface="Times New Roman" panose="02020603050405020304" pitchFamily="18" charset="0"/>
              </a:rPr>
              <a:t>2. AI Hospital Load Balancer</a:t>
            </a:r>
          </a:p>
          <a:p>
            <a:pPr algn="just">
              <a:buNone/>
            </a:pPr>
            <a:r>
              <a:rPr lang="en-IN" sz="2000">
                <a:latin typeface="Times New Roman" panose="02020603050405020304" pitchFamily="18" charset="0"/>
                <a:cs typeface="Times New Roman" panose="02020603050405020304" pitchFamily="18" charset="0"/>
              </a:rPr>
              <a:t>Considers hospital or department availability and workload to assist in efficient appointment coordination and improve utilization of healthcare resources.</a:t>
            </a:r>
          </a:p>
          <a:p>
            <a:pPr algn="just">
              <a:buNone/>
            </a:pPr>
            <a:endParaRPr lang="en-IN" sz="2000">
              <a:latin typeface="Times New Roman" panose="02020603050405020304" pitchFamily="18" charset="0"/>
              <a:cs typeface="Times New Roman" panose="02020603050405020304" pitchFamily="18" charset="0"/>
            </a:endParaRPr>
          </a:p>
          <a:p>
            <a:pPr algn="just">
              <a:buNone/>
            </a:pPr>
            <a:r>
              <a:rPr lang="en-IN" sz="2000" b="1">
                <a:latin typeface="Times New Roman" panose="02020603050405020304" pitchFamily="18" charset="0"/>
                <a:cs typeface="Times New Roman" panose="02020603050405020304" pitchFamily="18" charset="0"/>
              </a:rPr>
              <a:t>3. AI Digital Health Twin</a:t>
            </a:r>
          </a:p>
          <a:p>
            <a:pPr algn="just">
              <a:buNone/>
            </a:pPr>
            <a:r>
              <a:rPr lang="en-IN" sz="2000">
                <a:latin typeface="Times New Roman" panose="02020603050405020304" pitchFamily="18" charset="0"/>
                <a:cs typeface="Times New Roman" panose="02020603050405020304" pitchFamily="18" charset="0"/>
              </a:rPr>
              <a:t>Maintains an evolving AI-generated summary of relevant patient information, allowing important information to be presented in a consolidated form.</a:t>
            </a:r>
          </a:p>
        </p:txBody>
      </p:sp>
    </p:spTree>
    <p:extLst>
      <p:ext uri="{BB962C8B-B14F-4D97-AF65-F5344CB8AC3E}">
        <p14:creationId xmlns:p14="http://schemas.microsoft.com/office/powerpoint/2010/main" val="3524135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381398" y="1743891"/>
            <a:ext cx="10116039" cy="369332"/>
          </a:xfrm>
          <a:prstGeom prst="rect">
            <a:avLst/>
          </a:prstGeom>
          <a:noFill/>
        </p:spPr>
        <p:txBody>
          <a:bodyPr wrap="none" rtlCol="0">
            <a:spAutoFit/>
          </a:bodyPr>
          <a:lstStyle/>
          <a:p>
            <a:r>
              <a:rPr lang="en-US" b="1">
                <a:solidFill>
                  <a:srgbClr val="FF0000"/>
                </a:solidFill>
              </a:rPr>
              <a:t>TIMELINE CHART FOR EACH PHASE OF YOUR PROJECT SHOULD BE THERE AFTER EXPLANATION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TextBox 2">
            <a:extLst>
              <a:ext uri="{FF2B5EF4-FFF2-40B4-BE49-F238E27FC236}">
                <a16:creationId xmlns:a16="http://schemas.microsoft.com/office/drawing/2014/main" id="{A93A3CE1-90EB-FA46-984F-4912F0764223}"/>
              </a:ext>
            </a:extLst>
          </p:cNvPr>
          <p:cNvSpPr txBox="1"/>
          <p:nvPr/>
        </p:nvSpPr>
        <p:spPr>
          <a:xfrm>
            <a:off x="1910220" y="2656562"/>
            <a:ext cx="9300574"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2000">
                <a:latin typeface="Times New Roman"/>
                <a:cs typeface="Times New Roman"/>
              </a:rPr>
              <a:t>Literature Survey &amp; Requirement Analysis → W1–W2 </a:t>
            </a:r>
          </a:p>
          <a:p>
            <a:pPr>
              <a:buFont typeface=""/>
              <a:buChar char="•"/>
            </a:pPr>
            <a:r>
              <a:rPr lang="en-US" sz="2000">
                <a:latin typeface="Times New Roman"/>
                <a:cs typeface="Times New Roman"/>
              </a:rPr>
              <a:t>SOA Architecture &amp; Microservice Design → W2–W3 </a:t>
            </a:r>
          </a:p>
          <a:p>
            <a:pPr>
              <a:buFont typeface=""/>
              <a:buChar char="•"/>
            </a:pPr>
            <a:r>
              <a:rPr lang="en-US" sz="2000">
                <a:latin typeface="Times New Roman"/>
                <a:cs typeface="Times New Roman"/>
              </a:rPr>
              <a:t>Database &amp; Authentication Service Development → W3–W4 </a:t>
            </a:r>
          </a:p>
          <a:p>
            <a:pPr>
              <a:buFont typeface=""/>
              <a:buChar char="•"/>
            </a:pPr>
            <a:r>
              <a:rPr lang="en-US" sz="2000">
                <a:latin typeface="Times New Roman"/>
                <a:cs typeface="Times New Roman"/>
              </a:rPr>
              <a:t>Patient, Doctor &amp; Appointment Services → W4–W5 </a:t>
            </a:r>
          </a:p>
          <a:p>
            <a:pPr>
              <a:buFont typeface=""/>
              <a:buChar char="•"/>
            </a:pPr>
            <a:r>
              <a:rPr lang="en-US" sz="2000">
                <a:latin typeface="Times New Roman"/>
                <a:cs typeface="Times New Roman"/>
              </a:rPr>
              <a:t>AI Agent Integration &amp; Novel Features → W5–W6 </a:t>
            </a:r>
          </a:p>
          <a:p>
            <a:pPr>
              <a:buFont typeface=""/>
              <a:buChar char="•"/>
            </a:pPr>
            <a:r>
              <a:rPr lang="en-US" sz="2000">
                <a:latin typeface="Times New Roman"/>
                <a:cs typeface="Times New Roman"/>
              </a:rPr>
              <a:t>Frontend &amp; Service Integration → W5–W7 </a:t>
            </a:r>
          </a:p>
          <a:p>
            <a:pPr>
              <a:buFont typeface=""/>
              <a:buChar char="•"/>
            </a:pPr>
            <a:r>
              <a:rPr lang="en-US" sz="2000">
                <a:latin typeface="Times New Roman"/>
                <a:cs typeface="Times New Roman"/>
              </a:rPr>
              <a:t>System Testing, Security &amp; Performance Evaluation → W6–W8 </a:t>
            </a:r>
          </a:p>
          <a:p>
            <a:pPr>
              <a:buFont typeface=""/>
              <a:buChar char="•"/>
            </a:pPr>
            <a:r>
              <a:rPr lang="en-US" sz="2000">
                <a:latin typeface="Times New Roman"/>
                <a:cs typeface="Times New Roman"/>
              </a:rPr>
              <a:t>Documentation &amp; Final Presentation → W7–W8</a:t>
            </a:r>
          </a:p>
          <a:p>
            <a:pPr algn="ctr"/>
            <a:endParaRPr lang="en-US" sz="2000"/>
          </a:p>
        </p:txBody>
      </p:sp>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1829</Words>
  <Application>Microsoft Office PowerPoint</Application>
  <PresentationFormat>Widescreen</PresentationFormat>
  <Paragraphs>185</Paragraphs>
  <Slides>11</Slides>
  <Notes>10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System Architecture</vt:lpstr>
      <vt:lpstr>Methodology</vt:lpstr>
      <vt:lpstr>Technical Soundness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Miso_ Ramen_13</cp:lastModifiedBy>
  <cp:revision>1</cp:revision>
  <dcterms:created xsi:type="dcterms:W3CDTF">2026-08-08T06:33:56Z</dcterms:created>
  <dcterms:modified xsi:type="dcterms:W3CDTF">2026-09-24T08:15:26Z</dcterms:modified>
</cp:coreProperties>
</file>